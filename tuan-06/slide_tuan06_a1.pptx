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5303520" cy="411480"/>
          </a:xfrm>
          <a:prstGeom prst="roundRect">
            <a:avLst/>
          </a:prstGeom>
          <a:solidFill>
            <a:srgbClr val="1E293B"/>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43000"/>
            <a:ext cx="5120640" cy="320040"/>
          </a:xfrm>
          <a:prstGeom prst="rect">
            <a:avLst/>
          </a:prstGeom>
          <a:noFill/>
        </p:spPr>
        <p:txBody>
          <a:bodyPr wrap="none">
            <a:spAutoFit/>
          </a:bodyPr>
          <a:lstStyle/>
          <a:p>
            <a:pPr>
              <a:defRPr sz="1100" b="1">
                <a:solidFill>
                  <a:srgbClr val="028090"/>
                </a:solidFill>
              </a:defRPr>
            </a:pPr>
            <a:r>
              <a:t>KIỂM THỬ PHẦN MỀM (INT1401) • BÁO CÁO THỰC HÀNH TUẦN 6</a:t>
            </a:r>
          </a:p>
        </p:txBody>
      </p:sp>
      <p:sp>
        <p:nvSpPr>
          <p:cNvPr id="5" name="TextBox 4"/>
          <p:cNvSpPr txBox="1"/>
          <p:nvPr/>
        </p:nvSpPr>
        <p:spPr>
          <a:xfrm>
            <a:off x="731520" y="1737360"/>
            <a:ext cx="10698480" cy="1645920"/>
          </a:xfrm>
          <a:prstGeom prst="rect">
            <a:avLst/>
          </a:prstGeom>
          <a:noFill/>
        </p:spPr>
        <p:txBody>
          <a:bodyPr wrap="square">
            <a:spAutoFit/>
          </a:bodyPr>
          <a:lstStyle/>
          <a:p>
            <a:pPr>
              <a:defRPr sz="3600" b="1">
                <a:solidFill>
                  <a:srgbClr val="F1F5F9"/>
                </a:solidFill>
              </a:defRPr>
            </a:pPr>
            <a:r>
              <a:t>KIỂM THỬ TỰ ĐỘNG APPIUM</a:t>
            </a:r>
          </a:p>
          <a:p>
            <a:pPr>
              <a:defRPr sz="2200">
                <a:solidFill>
                  <a:srgbClr val="93C5FD"/>
                </a:solidFill>
              </a:defRPr>
            </a:pPr>
            <a:r>
              <a:t>Chức Năng Sắp Xếp Sản Phẩm Trên Ứng Dụng Di Động Swag Labs</a:t>
            </a:r>
          </a:p>
        </p:txBody>
      </p:sp>
      <p:sp>
        <p:nvSpPr>
          <p:cNvPr id="6" name="Rounded Rectangle 5"/>
          <p:cNvSpPr/>
          <p:nvPr/>
        </p:nvSpPr>
        <p:spPr>
          <a:xfrm>
            <a:off x="731520" y="3840480"/>
            <a:ext cx="10728655" cy="228600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023360"/>
            <a:ext cx="10149840" cy="1920240"/>
          </a:xfrm>
          <a:prstGeom prst="rect">
            <a:avLst/>
          </a:prstGeom>
          <a:noFill/>
        </p:spPr>
        <p:txBody>
          <a:bodyPr wrap="square">
            <a:spAutoFit/>
          </a:bodyPr>
          <a:lstStyle/>
          <a:p>
            <a:pPr>
              <a:defRPr sz="1400" b="1">
                <a:solidFill>
                  <a:srgbClr val="028090"/>
                </a:solidFill>
              </a:defRPr>
            </a:pPr>
            <a:r>
              <a:t>THÔNG TIN BÁO CÁO NHÓM A1</a:t>
            </a:r>
          </a:p>
          <a:p>
            <a:pPr>
              <a:defRPr sz="1300">
                <a:solidFill>
                  <a:srgbClr val="F1F5F9"/>
                </a:solidFill>
              </a:defRPr>
            </a:pPr>
            <a:r>
              <a:t>• Đơn vị thực hiện: Nhóm A1 – Lớp Kiểm thử phần mềm INT1401</a:t>
            </a:r>
          </a:p>
          <a:p>
            <a:pPr>
              <a:defRPr sz="1300">
                <a:solidFill>
                  <a:srgbClr val="F1F5F9"/>
                </a:solidFill>
              </a:defRPr>
            </a:pPr>
            <a:r>
              <a:t>• Trọng tâm nghiên cứu lý thuyết: 5.1 Explicit Waits, 5.2 Implicit Waits, 7.5 Locate elements By, 7.1 Exceptions</a:t>
            </a:r>
          </a:p>
          <a:p>
            <a:pPr>
              <a:defRPr sz="1300">
                <a:solidFill>
                  <a:srgbClr val="F1F5F9"/>
                </a:solidFill>
              </a:defRPr>
            </a:pPr>
            <a:r>
              <a:t>• Môi trường thực nghiệm: Appium Python Client, UIAutomator2, Android Swag Labs Mobile App</a:t>
            </a:r>
          </a:p>
          <a:p>
            <a:pPr>
              <a:defRPr sz="1300">
                <a:solidFill>
                  <a:srgbClr val="F1F5F9"/>
                </a:solidFill>
              </a:defRPr>
            </a:pPr>
            <a:r>
              <a:t>• Quy chuẩn cộng tác: GitHub Team Workflow (Milestone, Issues, Protected Main Branch, Pull Request Reviews)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Danh Sách Thành Viên &amp; Phân Công Nhiệm Vụ Tuần 6</a:t>
            </a:r>
          </a:p>
        </p:txBody>
      </p:sp>
      <p:sp>
        <p:nvSpPr>
          <p:cNvPr id="5" name="Rounded Rectangle 4"/>
          <p:cNvSpPr/>
          <p:nvPr/>
        </p:nvSpPr>
        <p:spPr>
          <a:xfrm>
            <a:off x="731520" y="1645920"/>
            <a:ext cx="2029968" cy="466344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755648" cy="4297680"/>
          </a:xfrm>
          <a:prstGeom prst="rect">
            <a:avLst/>
          </a:prstGeom>
          <a:noFill/>
        </p:spPr>
        <p:txBody>
          <a:bodyPr wrap="square">
            <a:spAutoFit/>
          </a:bodyPr>
          <a:lstStyle/>
          <a:p>
            <a:pPr>
              <a:defRPr sz="1000" b="1">
                <a:solidFill>
                  <a:srgbClr val="028090"/>
                </a:solidFill>
              </a:defRPr>
            </a:pPr>
            <a:r>
              <a:t>THÀNH VIÊN 01</a:t>
            </a:r>
          </a:p>
          <a:p>
            <a:pPr>
              <a:defRPr sz="1400" b="1">
                <a:solidFill>
                  <a:srgbClr val="1E2761"/>
                </a:solidFill>
              </a:defRPr>
            </a:pPr>
            <a:r>
              <a:t>Đoàn Nam Anh</a:t>
            </a:r>
          </a:p>
          <a:p>
            <a:pPr>
              <a:defRPr sz="1100">
                <a:solidFill>
                  <a:srgbClr val="64748B"/>
                </a:solidFill>
              </a:defRPr>
            </a:pPr>
            <a:r>
              <a:t>MSV: A46489</a:t>
            </a:r>
          </a:p>
          <a:p>
            <a:pPr>
              <a:defRPr sz="800">
                <a:solidFill>
                  <a:srgbClr val="E2E8F0"/>
                </a:solidFill>
              </a:defRPr>
            </a:pPr>
            <a:r>
              <a:t>------------------</a:t>
            </a:r>
          </a:p>
          <a:p>
            <a:pPr>
              <a:defRPr sz="1100" b="1">
                <a:solidFill>
                  <a:srgbClr val="2563EB"/>
                </a:solidFill>
              </a:defRPr>
            </a:pPr>
            <a:r>
              <a:t>Nhóm trưởng / Quản trị GitHub</a:t>
            </a:r>
          </a:p>
          <a:p>
            <a:pPr>
              <a:defRPr sz="1050">
                <a:solidFill>
                  <a:srgbClr val="1E293B"/>
                </a:solidFill>
              </a:defRPr>
            </a:pPr>
            <a:r>
              <a:t>Thiết lập cấu hình Appium Driver, khởi tạo kho mã nguồn kttd-a1, thiết lập bảo vệ nhánh main, Milestone, Labels và rà soát Pull Requests.</a:t>
            </a:r>
          </a:p>
        </p:txBody>
      </p:sp>
      <p:sp>
        <p:nvSpPr>
          <p:cNvPr id="7" name="Rounded Rectangle 6"/>
          <p:cNvSpPr/>
          <p:nvPr/>
        </p:nvSpPr>
        <p:spPr>
          <a:xfrm>
            <a:off x="2907792" y="1645920"/>
            <a:ext cx="2029968"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44952" y="1828800"/>
            <a:ext cx="1755648" cy="4297680"/>
          </a:xfrm>
          <a:prstGeom prst="rect">
            <a:avLst/>
          </a:prstGeom>
          <a:noFill/>
        </p:spPr>
        <p:txBody>
          <a:bodyPr wrap="square">
            <a:spAutoFit/>
          </a:bodyPr>
          <a:lstStyle/>
          <a:p>
            <a:pPr>
              <a:defRPr sz="1000" b="1">
                <a:solidFill>
                  <a:srgbClr val="028090"/>
                </a:solidFill>
              </a:defRPr>
            </a:pPr>
            <a:r>
              <a:t>THÀNH VIÊN 02</a:t>
            </a:r>
          </a:p>
          <a:p>
            <a:pPr>
              <a:defRPr sz="1400" b="1">
                <a:solidFill>
                  <a:srgbClr val="1E2761"/>
                </a:solidFill>
              </a:defRPr>
            </a:pPr>
            <a:r>
              <a:t>Nguyễn Bá Tùng Bách</a:t>
            </a:r>
          </a:p>
          <a:p>
            <a:pPr>
              <a:defRPr sz="1100">
                <a:solidFill>
                  <a:srgbClr val="64748B"/>
                </a:solidFill>
              </a:defRPr>
            </a:pPr>
            <a:r>
              <a:t>MSV: A45575</a:t>
            </a:r>
          </a:p>
          <a:p>
            <a:pPr>
              <a:defRPr sz="800">
                <a:solidFill>
                  <a:srgbClr val="E2E8F0"/>
                </a:solidFill>
              </a:defRPr>
            </a:pPr>
            <a:r>
              <a:t>------------------</a:t>
            </a:r>
          </a:p>
          <a:p>
            <a:pPr>
              <a:defRPr sz="1100" b="1">
                <a:solidFill>
                  <a:srgbClr val="2563EB"/>
                </a:solidFill>
              </a:defRPr>
            </a:pPr>
            <a:r>
              <a:t>Phân tích kịch bản &amp; Lý thuyết</a:t>
            </a:r>
          </a:p>
          <a:p>
            <a:pPr>
              <a:defRPr sz="1050">
                <a:solidFill>
                  <a:srgbClr val="1E293B"/>
                </a:solidFill>
              </a:defRPr>
            </a:pPr>
            <a:r>
              <a:t>Phân tích yêu cầu chức năng Sắp xếp sản phẩm, thiết kế chi tiết 6 kịch bản Test Cases (testcases.md), nghiên cứu chuyên sâu Explicit &amp; Implicit Waits.</a:t>
            </a:r>
          </a:p>
        </p:txBody>
      </p:sp>
      <p:sp>
        <p:nvSpPr>
          <p:cNvPr id="9" name="Rounded Rectangle 8"/>
          <p:cNvSpPr/>
          <p:nvPr/>
        </p:nvSpPr>
        <p:spPr>
          <a:xfrm>
            <a:off x="5084064" y="1645920"/>
            <a:ext cx="2029968"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1224" y="1828800"/>
            <a:ext cx="1755648" cy="4297680"/>
          </a:xfrm>
          <a:prstGeom prst="rect">
            <a:avLst/>
          </a:prstGeom>
          <a:noFill/>
        </p:spPr>
        <p:txBody>
          <a:bodyPr wrap="square">
            <a:spAutoFit/>
          </a:bodyPr>
          <a:lstStyle/>
          <a:p>
            <a:pPr>
              <a:defRPr sz="1000" b="1">
                <a:solidFill>
                  <a:srgbClr val="028090"/>
                </a:solidFill>
              </a:defRPr>
            </a:pPr>
            <a:r>
              <a:t>THÀNH VIÊN 03</a:t>
            </a:r>
          </a:p>
          <a:p>
            <a:pPr>
              <a:defRPr sz="1400" b="1">
                <a:solidFill>
                  <a:srgbClr val="1E2761"/>
                </a:solidFill>
              </a:defRPr>
            </a:pPr>
            <a:r>
              <a:t>Đoàn Ngọc Huy</a:t>
            </a:r>
          </a:p>
          <a:p>
            <a:pPr>
              <a:defRPr sz="1100">
                <a:solidFill>
                  <a:srgbClr val="64748B"/>
                </a:solidFill>
              </a:defRPr>
            </a:pPr>
            <a:r>
              <a:t>MSV: A46445</a:t>
            </a:r>
          </a:p>
          <a:p>
            <a:pPr>
              <a:defRPr sz="800">
                <a:solidFill>
                  <a:srgbClr val="E2E8F0"/>
                </a:solidFill>
              </a:defRPr>
            </a:pPr>
            <a:r>
              <a:t>------------------</a:t>
            </a:r>
          </a:p>
          <a:p>
            <a:pPr>
              <a:defRPr sz="1100" b="1">
                <a:solidFill>
                  <a:srgbClr val="2563EB"/>
                </a:solidFill>
              </a:defRPr>
            </a:pPr>
            <a:r>
              <a:t>Lập trình kiểm thử (Tên A-Z, Z-A)</a:t>
            </a:r>
          </a:p>
          <a:p>
            <a:pPr>
              <a:defRPr sz="1050">
                <a:solidFill>
                  <a:srgbClr val="1E293B"/>
                </a:solidFill>
              </a:defRPr>
            </a:pPr>
            <a:r>
              <a:t>Hiện thực kịch bản TC01 (Name A to Z) và TC02 (Name Z to A), sử dụng AppiumBy.ACCESSIBILITY_ID và thuật toán so sánh chuỗi danh sách.</a:t>
            </a:r>
          </a:p>
        </p:txBody>
      </p:sp>
      <p:sp>
        <p:nvSpPr>
          <p:cNvPr id="11" name="Rounded Rectangle 10"/>
          <p:cNvSpPr/>
          <p:nvPr/>
        </p:nvSpPr>
        <p:spPr>
          <a:xfrm>
            <a:off x="7260336" y="1645920"/>
            <a:ext cx="2029968"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97496" y="1828800"/>
            <a:ext cx="1755648" cy="4297680"/>
          </a:xfrm>
          <a:prstGeom prst="rect">
            <a:avLst/>
          </a:prstGeom>
          <a:noFill/>
        </p:spPr>
        <p:txBody>
          <a:bodyPr wrap="square">
            <a:spAutoFit/>
          </a:bodyPr>
          <a:lstStyle/>
          <a:p>
            <a:pPr>
              <a:defRPr sz="1000" b="1">
                <a:solidFill>
                  <a:srgbClr val="028090"/>
                </a:solidFill>
              </a:defRPr>
            </a:pPr>
            <a:r>
              <a:t>THÀNH VIÊN 04</a:t>
            </a:r>
          </a:p>
          <a:p>
            <a:pPr>
              <a:defRPr sz="1400" b="1">
                <a:solidFill>
                  <a:srgbClr val="1E2761"/>
                </a:solidFill>
              </a:defRPr>
            </a:pPr>
            <a:r>
              <a:t>Phạm Hùng</a:t>
            </a:r>
          </a:p>
          <a:p>
            <a:pPr>
              <a:defRPr sz="1100">
                <a:solidFill>
                  <a:srgbClr val="64748B"/>
                </a:solidFill>
              </a:defRPr>
            </a:pPr>
            <a:r>
              <a:t>MSV: A43714</a:t>
            </a:r>
          </a:p>
          <a:p>
            <a:pPr>
              <a:defRPr sz="800">
                <a:solidFill>
                  <a:srgbClr val="E2E8F0"/>
                </a:solidFill>
              </a:defRPr>
            </a:pPr>
            <a:r>
              <a:t>------------------</a:t>
            </a:r>
          </a:p>
          <a:p>
            <a:pPr>
              <a:defRPr sz="1100" b="1">
                <a:solidFill>
                  <a:srgbClr val="2563EB"/>
                </a:solidFill>
              </a:defRPr>
            </a:pPr>
            <a:r>
              <a:t>Lập trình kiểm thử (Giá SP)</a:t>
            </a:r>
          </a:p>
          <a:p>
            <a:pPr>
              <a:defRPr sz="1050">
                <a:solidFill>
                  <a:srgbClr val="1E293B"/>
                </a:solidFill>
              </a:defRPr>
            </a:pPr>
            <a:r>
              <a:t>Hiện thực kịch bản TC03 (Price Low-High) và TC04 (Price High-Low), bóc tách chuỗi tiền tệ float và kiểm chứng logic thứ tự số học.</a:t>
            </a:r>
          </a:p>
        </p:txBody>
      </p:sp>
      <p:sp>
        <p:nvSpPr>
          <p:cNvPr id="13" name="Rounded Rectangle 12"/>
          <p:cNvSpPr/>
          <p:nvPr/>
        </p:nvSpPr>
        <p:spPr>
          <a:xfrm>
            <a:off x="9436608" y="1645920"/>
            <a:ext cx="2029968"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73768" y="1828800"/>
            <a:ext cx="1755648" cy="4297680"/>
          </a:xfrm>
          <a:prstGeom prst="rect">
            <a:avLst/>
          </a:prstGeom>
          <a:noFill/>
        </p:spPr>
        <p:txBody>
          <a:bodyPr wrap="square">
            <a:spAutoFit/>
          </a:bodyPr>
          <a:lstStyle/>
          <a:p>
            <a:pPr>
              <a:defRPr sz="1000" b="1">
                <a:solidFill>
                  <a:srgbClr val="028090"/>
                </a:solidFill>
              </a:defRPr>
            </a:pPr>
            <a:r>
              <a:t>THÀNH VIÊN 05</a:t>
            </a:r>
          </a:p>
          <a:p>
            <a:pPr>
              <a:defRPr sz="1400" b="1">
                <a:solidFill>
                  <a:srgbClr val="1E2761"/>
                </a:solidFill>
              </a:defRPr>
            </a:pPr>
            <a:r>
              <a:t>Đặng Hoàng Nam</a:t>
            </a:r>
          </a:p>
          <a:p>
            <a:pPr>
              <a:defRPr sz="1100">
                <a:solidFill>
                  <a:srgbClr val="64748B"/>
                </a:solidFill>
              </a:defRPr>
            </a:pPr>
            <a:r>
              <a:t>MSV: A45514</a:t>
            </a:r>
          </a:p>
          <a:p>
            <a:pPr>
              <a:defRPr sz="800">
                <a:solidFill>
                  <a:srgbClr val="E2E8F0"/>
                </a:solidFill>
              </a:defRPr>
            </a:pPr>
            <a:r>
              <a:t>------------------</a:t>
            </a:r>
          </a:p>
          <a:p>
            <a:pPr>
              <a:defRPr sz="1100" b="1">
                <a:solidFill>
                  <a:srgbClr val="2563EB"/>
                </a:solidFill>
              </a:defRPr>
            </a:pPr>
            <a:r>
              <a:t>Lập trình Wait &amp; Báo cáo</a:t>
            </a:r>
          </a:p>
          <a:p>
            <a:pPr>
              <a:defRPr sz="1050">
                <a:solidFill>
                  <a:srgbClr val="1E293B"/>
                </a:solidFill>
              </a:defRPr>
            </a:pPr>
            <a:r>
              <a:t>Hiện thực kịch bản TC05 (EC.visibility_of_element_located) và TC06 (TimeoutException), đóng gói slide thuyết trình và tổng hợp báo cáo kiểm thử.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Tổng Quan Ứng Dụng Di Động Swag Labs &amp; Phạm Vi Kiểm Thử</a:t>
            </a:r>
          </a:p>
        </p:txBody>
      </p:sp>
      <p:sp>
        <p:nvSpPr>
          <p:cNvPr id="5" name="Rounded Rectangle 4"/>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206240"/>
          </a:xfrm>
          <a:prstGeom prst="rect">
            <a:avLst/>
          </a:prstGeom>
          <a:noFill/>
        </p:spPr>
        <p:txBody>
          <a:bodyPr wrap="square">
            <a:spAutoFit/>
          </a:bodyPr>
          <a:lstStyle/>
          <a:p>
            <a:pPr>
              <a:defRPr sz="1400" b="1">
                <a:solidFill>
                  <a:srgbClr val="1E2761"/>
                </a:solidFill>
              </a:defRPr>
            </a:pPr>
            <a:r>
              <a:t>THÔNG TIN ỨNG DỤNG MỤC TIÊU</a:t>
            </a:r>
          </a:p>
          <a:p>
            <a:pPr>
              <a:defRPr sz="1150">
                <a:solidFill>
                  <a:srgbClr val="1E293B"/>
                </a:solidFill>
              </a:defRPr>
            </a:pPr>
            <a:r>
              <a:t>• Tên ứng dụng: Swag Labs Mobile App (Sauce Labs Sample App).</a:t>
            </a:r>
          </a:p>
          <a:p>
            <a:pPr>
              <a:defRPr sz="1150">
                <a:solidFill>
                  <a:srgbClr val="1E293B"/>
                </a:solidFill>
              </a:defRPr>
            </a:pPr>
            <a:r>
              <a:t>• Nền tảng mục tiêu: Hệ điều hành Android (Test trên thiết bị thật / Giả lập AVD).</a:t>
            </a:r>
          </a:p>
          <a:p>
            <a:pPr>
              <a:defRPr sz="1150">
                <a:solidFill>
                  <a:srgbClr val="1E293B"/>
                </a:solidFill>
              </a:defRPr>
            </a:pPr>
            <a:r>
              <a:t>• App Package: com.swaglabsmobileapp</a:t>
            </a:r>
          </a:p>
          <a:p>
            <a:pPr>
              <a:defRPr sz="1150">
                <a:solidFill>
                  <a:srgbClr val="1E293B"/>
                </a:solidFill>
              </a:defRPr>
            </a:pPr>
            <a:r>
              <a:t>• App Activity: com.swaglabsmobileapp.MainActivity</a:t>
            </a:r>
          </a:p>
          <a:p>
            <a:pPr>
              <a:defRPr sz="1150">
                <a:solidFill>
                  <a:srgbClr val="1E293B"/>
                </a:solidFill>
              </a:defRPr>
            </a:pPr>
            <a:r>
              <a:t>• Giao thức tương tác: Appium Server v2.x qua UiAutomator2 Driver.</a:t>
            </a:r>
          </a:p>
          <a:p>
            <a:pPr>
              <a:defRPr sz="1150">
                <a:solidFill>
                  <a:srgbClr val="1E293B"/>
                </a:solidFill>
              </a:defRPr>
            </a:pPr>
            <a:r>
              <a:t>• Màn hình kiểm thử: PRODUCTS (Màn hình chính hiển thị danh mục hàng hóa sau đăng nhập).</a:t>
            </a:r>
          </a:p>
          <a:p>
            <a:pPr>
              <a:defRPr sz="1150">
                <a:solidFill>
                  <a:srgbClr val="1E293B"/>
                </a:solidFill>
              </a:defRPr>
            </a:pPr>
            <a:r>
              <a:t>• Đặc tính UI: Ứng dụng Native xây dựng trên nền tảng React Native, hỗ trợ các thuộc tính Accessibility chuẩn cho kiểm thử tự động.</a:t>
            </a:r>
          </a:p>
        </p:txBody>
      </p:sp>
      <p:sp>
        <p:nvSpPr>
          <p:cNvPr id="7" name="Rounded Rectangle 6"/>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206240"/>
          </a:xfrm>
          <a:prstGeom prst="rect">
            <a:avLst/>
          </a:prstGeom>
          <a:noFill/>
        </p:spPr>
        <p:txBody>
          <a:bodyPr wrap="square">
            <a:spAutoFit/>
          </a:bodyPr>
          <a:lstStyle/>
          <a:p>
            <a:pPr>
              <a:defRPr sz="1400" b="1">
                <a:solidFill>
                  <a:srgbClr val="028090"/>
                </a:solidFill>
              </a:defRPr>
            </a:pPr>
            <a:r>
              <a:t>CHỨC NĂNG SẮP XẾP SẢN PHẨM (PRODUCT SORTING)</a:t>
            </a:r>
          </a:p>
          <a:p>
            <a:pPr>
              <a:defRPr sz="1150">
                <a:solidFill>
                  <a:srgbClr val="1E293B"/>
                </a:solidFill>
              </a:defRPr>
            </a:pPr>
            <a:r>
              <a:t>• Nút kích hoạt bộ lọc: Accessibility ID: `test-Modal Selector Button`</a:t>
            </a:r>
          </a:p>
          <a:p>
            <a:pPr>
              <a:defRPr sz="1150">
                <a:solidFill>
                  <a:srgbClr val="1E293B"/>
                </a:solidFill>
              </a:defRPr>
            </a:pPr>
            <a:r>
              <a:t>• Chế độ 1 - Name (A to Z): Sắp xếp danh sách tên sản phẩm theo thứ tự bảng chữ cái tăng dần.</a:t>
            </a:r>
          </a:p>
          <a:p>
            <a:pPr>
              <a:defRPr sz="1150">
                <a:solidFill>
                  <a:srgbClr val="1E293B"/>
                </a:solidFill>
              </a:defRPr>
            </a:pPr>
            <a:r>
              <a:t>• Chế độ 2 - Name (Z to A): Sắp xếp danh sách tên sản phẩm theo thứ tự bảng chữ cái giảm dần.</a:t>
            </a:r>
          </a:p>
          <a:p>
            <a:pPr>
              <a:defRPr sz="1150">
                <a:solidFill>
                  <a:srgbClr val="1E293B"/>
                </a:solidFill>
              </a:defRPr>
            </a:pPr>
            <a:r>
              <a:t>• Chế độ 3 - Price (low to high): Sắp xếp giá trị đơn hàng theo số thực tăng dần ($7.99 -&gt; $49.99).</a:t>
            </a:r>
          </a:p>
          <a:p>
            <a:pPr>
              <a:defRPr sz="1150">
                <a:solidFill>
                  <a:srgbClr val="1E293B"/>
                </a:solidFill>
              </a:defRPr>
            </a:pPr>
            <a:r>
              <a:t>• Chế độ 4 - Price (high to low): Sắp xếp giá trị đơn hàng theo số thực giảm dần ($49.99 -&gt; $7.99).</a:t>
            </a:r>
          </a:p>
          <a:p>
            <a:pPr>
              <a:defRPr sz="1150">
                <a:solidFill>
                  <a:srgbClr val="1E293B"/>
                </a:solidFill>
              </a:defRPr>
            </a:pPr>
            <a:r>
              <a:t>• Thách thức kiểm thử: Phải kiểm soát độ trễ render danh sách trên thiết bị di động, tránh bắt element khi dữ liệu chưa kịp tái sắp xếp.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Nghiên Cứu Mục 5.1: Cơ Chế Explicit Waits (Chờ Tường Minh)</a:t>
            </a:r>
          </a:p>
        </p:txBody>
      </p:sp>
      <p:sp>
        <p:nvSpPr>
          <p:cNvPr id="5" name="Rounded Rectangle 4"/>
          <p:cNvSpPr/>
          <p:nvPr/>
        </p:nvSpPr>
        <p:spPr>
          <a:xfrm>
            <a:off x="731520"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99232" cy="4206240"/>
          </a:xfrm>
          <a:prstGeom prst="rect">
            <a:avLst/>
          </a:prstGeom>
          <a:noFill/>
        </p:spPr>
        <p:txBody>
          <a:bodyPr wrap="square">
            <a:spAutoFit/>
          </a:bodyPr>
          <a:lstStyle/>
          <a:p>
            <a:pPr>
              <a:defRPr sz="1300" b="1">
                <a:solidFill>
                  <a:srgbClr val="1E2761"/>
                </a:solidFill>
              </a:defRPr>
            </a:pPr>
            <a:r>
              <a:t>1. BẢN CHẤT EXPLICIT WAIT</a:t>
            </a:r>
          </a:p>
          <a:p>
            <a:pPr>
              <a:defRPr sz="1100">
                <a:solidFill>
                  <a:srgbClr val="1E293B"/>
                </a:solidFill>
              </a:defRPr>
            </a:pPr>
            <a:r>
              <a:t>• Explicit Wait là cơ chế lập trình cho phép script tạm dừng thực thi cho tới khi một ĐIỀU KIỆN CỤ THỂ (Expected Condition) được đáp ứng hoặc vượt quá thời gian tối đa (Timeout).</a:t>
            </a:r>
          </a:p>
          <a:p>
            <a:pPr>
              <a:defRPr sz="1100">
                <a:solidFill>
                  <a:srgbClr val="1E293B"/>
                </a:solidFill>
              </a:defRPr>
            </a:pPr>
            <a:r>
              <a:t>• Chỉ áp dụng cục bộ cho phần tử hoặc hành động cụ thể đang được gọi.</a:t>
            </a:r>
          </a:p>
          <a:p>
            <a:pPr>
              <a:defRPr sz="1100">
                <a:solidFill>
                  <a:srgbClr val="1E293B"/>
                </a:solidFill>
              </a:defRPr>
            </a:pPr>
            <a:r>
              <a:t>• Nếu điều kiện thỏa mãn trước timeout, mã nguồn lập tức chạy tiếp mà không cần chờ hết toàn bộ thời gian.</a:t>
            </a:r>
          </a:p>
          <a:p>
            <a:pPr>
              <a:defRPr sz="1100">
                <a:solidFill>
                  <a:srgbClr val="1E293B"/>
                </a:solidFill>
              </a:defRPr>
            </a:pPr>
            <a:r>
              <a:t>• Khắc phục triệt để nhược điểm của time.sleep() (vốn gây lãng phí thời gian cố định và làm chậm bộ kiểm thử).</a:t>
            </a:r>
          </a:p>
        </p:txBody>
      </p:sp>
      <p:sp>
        <p:nvSpPr>
          <p:cNvPr id="7" name="Rounded Rectangle 6"/>
          <p:cNvSpPr/>
          <p:nvPr/>
        </p:nvSpPr>
        <p:spPr>
          <a:xfrm>
            <a:off x="4398264"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828800"/>
            <a:ext cx="2999232" cy="4206240"/>
          </a:xfrm>
          <a:prstGeom prst="rect">
            <a:avLst/>
          </a:prstGeom>
          <a:noFill/>
        </p:spPr>
        <p:txBody>
          <a:bodyPr wrap="square">
            <a:spAutoFit/>
          </a:bodyPr>
          <a:lstStyle/>
          <a:p>
            <a:pPr>
              <a:defRPr sz="1300" b="1">
                <a:solidFill>
                  <a:srgbClr val="028090"/>
                </a:solidFill>
              </a:defRPr>
            </a:pPr>
            <a:r>
              <a:t>2. CHU KỲ POLLING &amp; TIMEOUT</a:t>
            </a:r>
          </a:p>
          <a:p>
            <a:pPr>
              <a:defRPr sz="1100">
                <a:solidFill>
                  <a:srgbClr val="1E293B"/>
                </a:solidFill>
              </a:defRPr>
            </a:pPr>
            <a:r>
              <a:t>• WebDriverWait thiết lập một vòng lặp thẩm tra (polling loop).</a:t>
            </a:r>
          </a:p>
          <a:p>
            <a:pPr>
              <a:defRPr sz="1100">
                <a:solidFill>
                  <a:srgbClr val="1E293B"/>
                </a:solidFill>
              </a:defRPr>
            </a:pPr>
            <a:r>
              <a:t>• Mặc định, WebDriver sẽ thăm dò cây giao diện mỗi 500 mili-giây (0.5 giây) một lần.</a:t>
            </a:r>
          </a:p>
          <a:p>
            <a:pPr>
              <a:defRPr sz="1100">
                <a:solidFill>
                  <a:srgbClr val="1E293B"/>
                </a:solidFill>
              </a:defRPr>
            </a:pPr>
            <a:r>
              <a:t>• Có thể cấu hình tùy chỉnh tần suất kiểm tra: poll_frequency=0.2s.</a:t>
            </a:r>
          </a:p>
          <a:p>
            <a:pPr>
              <a:defRPr sz="1100">
                <a:solidFill>
                  <a:srgbClr val="1E293B"/>
                </a:solidFill>
              </a:defRPr>
            </a:pPr>
            <a:r>
              <a:t>• Trong suốt quá trình kiểm tra, nếu gặp NoSuchElementException, WebDriverWait tự động bỏ qua để tiếp tục thăm dò.</a:t>
            </a:r>
          </a:p>
          <a:p>
            <a:pPr>
              <a:defRPr sz="1100">
                <a:solidFill>
                  <a:srgbClr val="1E293B"/>
                </a:solidFill>
              </a:defRPr>
            </a:pPr>
            <a:r>
              <a:t>• Nếu hết thời gian timeout mà điều kiện vẫn không trả về True, một TimeoutException sẽ được ném ra.</a:t>
            </a:r>
          </a:p>
        </p:txBody>
      </p:sp>
      <p:sp>
        <p:nvSpPr>
          <p:cNvPr id="9" name="Rounded Rectangle 8"/>
          <p:cNvSpPr/>
          <p:nvPr/>
        </p:nvSpPr>
        <p:spPr>
          <a:xfrm>
            <a:off x="8065008"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828800"/>
            <a:ext cx="2999232" cy="4206240"/>
          </a:xfrm>
          <a:prstGeom prst="rect">
            <a:avLst/>
          </a:prstGeom>
          <a:noFill/>
        </p:spPr>
        <p:txBody>
          <a:bodyPr wrap="square">
            <a:spAutoFit/>
          </a:bodyPr>
          <a:lstStyle/>
          <a:p>
            <a:pPr>
              <a:defRPr sz="1300" b="1">
                <a:solidFill>
                  <a:srgbClr val="2563EB"/>
                </a:solidFill>
              </a:defRPr>
            </a:pPr>
            <a:r>
              <a:t>3. CẤU TRÚC CODE THỰC TẾ</a:t>
            </a:r>
          </a:p>
          <a:p>
            <a:pPr>
              <a:defRPr sz="1050">
                <a:solidFill>
                  <a:srgbClr val="1E293B"/>
                </a:solidFill>
              </a:defRPr>
            </a:pPr>
            <a:r>
              <a:t>• Khai báo đối tượng chờ:</a:t>
            </a:r>
          </a:p>
          <a:p>
            <a:pPr>
              <a:defRPr sz="1050">
                <a:solidFill>
                  <a:srgbClr val="1E293B"/>
                </a:solidFill>
              </a:defRPr>
            </a:pPr>
            <a:r>
              <a:t>• wait = WebDriverWait(driver, timeout=10, poll_frequency=0.5)</a:t>
            </a:r>
          </a:p>
          <a:p>
            <a:pPr>
              <a:defRPr sz="1050">
                <a:solidFill>
                  <a:srgbClr val="1E293B"/>
                </a:solidFill>
              </a:defRPr>
            </a:pPr>
            <a:r>
              <a:t>• Đợi phần tử hiển thị:</a:t>
            </a:r>
          </a:p>
          <a:p>
            <a:pPr>
              <a:defRPr sz="1050">
                <a:solidFill>
                  <a:srgbClr val="1E293B"/>
                </a:solidFill>
              </a:defRPr>
            </a:pPr>
            <a:r>
              <a:t>• element = wait.until(EC.visibility_of_element_located((AppiumBy.ACCESSIBILITY_ID, 'test-Id')))</a:t>
            </a:r>
          </a:p>
          <a:p>
            <a:pPr>
              <a:defRPr sz="1050">
                <a:solidFill>
                  <a:srgbClr val="1E293B"/>
                </a:solidFill>
              </a:defRPr>
            </a:pPr>
            <a:r>
              <a:t>• Đợi phần tử sẵn sàng nhấn:</a:t>
            </a:r>
          </a:p>
          <a:p>
            <a:pPr>
              <a:defRPr sz="1050">
                <a:solidFill>
                  <a:srgbClr val="1E293B"/>
                </a:solidFill>
              </a:defRPr>
            </a:pPr>
            <a:r>
              <a:t>• btn = wait.until(EC.element_to_be_clickable((AppiumBy.ACCESSIBILITY_ID, 'test-Btn')))</a:t>
            </a:r>
          </a:p>
          <a:p>
            <a:pPr>
              <a:defRPr sz="1050">
                <a:solidFill>
                  <a:srgbClr val="1E293B"/>
                </a:solidFill>
              </a:defRPr>
            </a:pPr>
            <a:r>
              <a:t>• Đặc tính vượt trội: Trả về trực tiếp tham chiếu WebElement ngay khi điều kiện thỏa mãn.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Nghiên Cứu Mục 5.1: Các Điều Kiện Chờ (Expected Conditions)</a:t>
            </a:r>
          </a:p>
        </p:txBody>
      </p:sp>
      <p:sp>
        <p:nvSpPr>
          <p:cNvPr id="5" name="Rounded Rectangle 4"/>
          <p:cNvSpPr/>
          <p:nvPr/>
        </p:nvSpPr>
        <p:spPr>
          <a:xfrm>
            <a:off x="7315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46320" cy="1920240"/>
          </a:xfrm>
          <a:prstGeom prst="rect">
            <a:avLst/>
          </a:prstGeom>
          <a:noFill/>
        </p:spPr>
        <p:txBody>
          <a:bodyPr wrap="square">
            <a:spAutoFit/>
          </a:bodyPr>
          <a:lstStyle/>
          <a:p>
            <a:pPr>
              <a:defRPr sz="1200" b="1">
                <a:solidFill>
                  <a:srgbClr val="1E2761"/>
                </a:solidFill>
              </a:defRPr>
            </a:pPr>
            <a:r>
              <a:t>EC.visibility_of_element_located((By, value))</a:t>
            </a:r>
          </a:p>
          <a:p>
            <a:pPr>
              <a:defRPr sz="1050">
                <a:solidFill>
                  <a:srgbClr val="1E293B"/>
                </a:solidFill>
              </a:defRPr>
            </a:pPr>
            <a:r>
              <a:t>• Ý nghĩa: Đảm bảo phần tử có mặt trong cây giao diện VÀ có kích thước hiển thị thực tế (width &gt; 0, height &gt; 0).</a:t>
            </a:r>
            <a:br/>
            <a:r>
              <a:t>• Ứng dụng: Xác thực hộp thoại sắp xếp sản phẩm (Modal Selector) đã bung ra trọn vẹn trước khi tìm kiếm các tùy chọn.</a:t>
            </a:r>
          </a:p>
        </p:txBody>
      </p:sp>
      <p:sp>
        <p:nvSpPr>
          <p:cNvPr id="7" name="Rounded Rectangle 6"/>
          <p:cNvSpPr/>
          <p:nvPr/>
        </p:nvSpPr>
        <p:spPr>
          <a:xfrm>
            <a:off x="62179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1920240"/>
          </a:xfrm>
          <a:prstGeom prst="rect">
            <a:avLst/>
          </a:prstGeom>
          <a:noFill/>
        </p:spPr>
        <p:txBody>
          <a:bodyPr wrap="square">
            <a:spAutoFit/>
          </a:bodyPr>
          <a:lstStyle/>
          <a:p>
            <a:pPr>
              <a:defRPr sz="1200" b="1">
                <a:solidFill>
                  <a:srgbClr val="028090"/>
                </a:solidFill>
              </a:defRPr>
            </a:pPr>
            <a:r>
              <a:t>EC.element_to_be_clickable((By, value))</a:t>
            </a:r>
          </a:p>
          <a:p>
            <a:pPr>
              <a:defRPr sz="1050">
                <a:solidFill>
                  <a:srgbClr val="1E293B"/>
                </a:solidFill>
              </a:defRPr>
            </a:pPr>
            <a:r>
              <a:t>• Ý nghĩa: Đảm bảo phần tử vừa hiển thị, vừa ở trạng thái được kích hoạt (enabled=true) để có thể nhận sự kiện chạm/click mà không ném lỗi.</a:t>
            </a:r>
            <a:br/>
            <a:r>
              <a:t>• Ứng dụng: Dùng để click nút mở Menu Lọc và các lựa chọn 'Name (A to Z)', 'Price (low to high)'.</a:t>
            </a:r>
          </a:p>
        </p:txBody>
      </p:sp>
      <p:sp>
        <p:nvSpPr>
          <p:cNvPr id="9" name="Rounded Rectangle 8"/>
          <p:cNvSpPr/>
          <p:nvPr/>
        </p:nvSpPr>
        <p:spPr>
          <a:xfrm>
            <a:off x="731520" y="41148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846320" cy="1920240"/>
          </a:xfrm>
          <a:prstGeom prst="rect">
            <a:avLst/>
          </a:prstGeom>
          <a:noFill/>
        </p:spPr>
        <p:txBody>
          <a:bodyPr wrap="square">
            <a:spAutoFit/>
          </a:bodyPr>
          <a:lstStyle/>
          <a:p>
            <a:pPr>
              <a:defRPr sz="1200" b="1">
                <a:solidFill>
                  <a:srgbClr val="2563EB"/>
                </a:solidFill>
              </a:defRPr>
            </a:pPr>
            <a:r>
              <a:t>EC.presence_of_element_located((By, value))</a:t>
            </a:r>
          </a:p>
          <a:p>
            <a:pPr>
              <a:defRPr sz="1050">
                <a:solidFill>
                  <a:srgbClr val="1E293B"/>
                </a:solidFill>
              </a:defRPr>
            </a:pPr>
            <a:r>
              <a:t>• Ý nghĩa: Chỉ kiểm tra phần tử đã được nạp vào cấu trúc DOM/XML của view. Phần tử có thể bị ẩn hoặc nằm ngoài màn hình chưa scroll tới.</a:t>
            </a:r>
            <a:br/>
            <a:r>
              <a:t>• So sánh: Nhanh hơn visibility nhưng tiềm ẩn rủi ro khi thao tác tương tác chạm trực tiếp.</a:t>
            </a:r>
          </a:p>
        </p:txBody>
      </p:sp>
      <p:sp>
        <p:nvSpPr>
          <p:cNvPr id="11" name="Rounded Rectangle 10"/>
          <p:cNvSpPr/>
          <p:nvPr/>
        </p:nvSpPr>
        <p:spPr>
          <a:xfrm>
            <a:off x="6217920" y="41148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920240"/>
          </a:xfrm>
          <a:prstGeom prst="rect">
            <a:avLst/>
          </a:prstGeom>
          <a:noFill/>
        </p:spPr>
        <p:txBody>
          <a:bodyPr wrap="square">
            <a:spAutoFit/>
          </a:bodyPr>
          <a:lstStyle/>
          <a:p>
            <a:pPr>
              <a:defRPr sz="1200" b="1">
                <a:solidFill>
                  <a:srgbClr val="B45309"/>
                </a:solidFill>
              </a:defRPr>
            </a:pPr>
            <a:r>
              <a:t>EC.invisibility_of_element_located / text_to_be_present_in_element</a:t>
            </a:r>
          </a:p>
          <a:p>
            <a:pPr>
              <a:defRPr sz="1050">
                <a:solidFill>
                  <a:srgbClr val="1E293B"/>
                </a:solidFill>
              </a:defRPr>
            </a:pPr>
            <a:r>
              <a:t>• Ý nghĩa: Chờ cho tới khi biểu tượng loading (spinner) biến mất hoặc chờ nội dung text của sản phẩm được cập nhật lại theo thứ tự mới.</a:t>
            </a:r>
            <a:br/>
            <a:r>
              <a:t>• Ứng dụng: Đảm bảo danh sách hàng hóa đã hoàn tất render lại trước khi tiến hành trích xuất danh sách giá/tên.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Nghiên Cứu Mục 5.2: Cơ Chế Implicit Waits (Chờ Ngầm Định)</a:t>
            </a:r>
          </a:p>
        </p:txBody>
      </p:sp>
      <p:sp>
        <p:nvSpPr>
          <p:cNvPr id="5" name="Rounded Rectangle 4"/>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206240"/>
          </a:xfrm>
          <a:prstGeom prst="rect">
            <a:avLst/>
          </a:prstGeom>
          <a:noFill/>
        </p:spPr>
        <p:txBody>
          <a:bodyPr wrap="square">
            <a:spAutoFit/>
          </a:bodyPr>
          <a:lstStyle/>
          <a:p>
            <a:pPr>
              <a:defRPr sz="1400" b="1">
                <a:solidFill>
                  <a:srgbClr val="1E2761"/>
                </a:solidFill>
              </a:defRPr>
            </a:pPr>
            <a:r>
              <a:t>ĐẶC TRƯNG CỦA IMPLICIT WAIT</a:t>
            </a:r>
          </a:p>
          <a:p>
            <a:pPr>
              <a:defRPr sz="1150">
                <a:solidFill>
                  <a:srgbClr val="1E293B"/>
                </a:solidFill>
              </a:defRPr>
            </a:pPr>
            <a:r>
              <a:t>• Phạm vi ảnh hưởng toàn cục: Thiết lập một lần trên đối tượng driver và áp dụng cho MỌI câu lệnh tìm kiếm phần tử (`find_element`, `find_elements`) trong suốt phiên làm việc.</a:t>
            </a:r>
          </a:p>
          <a:p>
            <a:pPr>
              <a:defRPr sz="1150">
                <a:solidFill>
                  <a:srgbClr val="1E293B"/>
                </a:solidFill>
              </a:defRPr>
            </a:pPr>
            <a:r>
              <a:t>• Cú pháp chuẩn: `driver.implicitly_wait(10)` (Thời gian đơn vị tính bằng giây).</a:t>
            </a:r>
          </a:p>
          <a:p>
            <a:pPr>
              <a:defRPr sz="1150">
                <a:solidFill>
                  <a:srgbClr val="1E293B"/>
                </a:solidFill>
              </a:defRPr>
            </a:pPr>
            <a:r>
              <a:t>• Cách thức xử lý: Khi tìm kiếm một element chưa xuất hiện, driver tự động lặp lại việc truy vấn cây UI cho tới khi tìm thấy hoặc hết thời gian timeout.</a:t>
            </a:r>
          </a:p>
          <a:p>
            <a:pPr>
              <a:defRPr sz="1150">
                <a:solidFill>
                  <a:srgbClr val="1E293B"/>
                </a:solidFill>
              </a:defRPr>
            </a:pPr>
            <a:r>
              <a:t>• Xử lý khi thành công: Nếu phần tử xuất hiện sau 1 giây, driver trả về ngay mà không phải chờ hết 10 giây đã khai báo.</a:t>
            </a:r>
          </a:p>
        </p:txBody>
      </p:sp>
      <p:sp>
        <p:nvSpPr>
          <p:cNvPr id="7" name="Rounded Rectangle 6"/>
          <p:cNvSpPr/>
          <p:nvPr/>
        </p:nvSpPr>
        <p:spPr>
          <a:xfrm>
            <a:off x="6217920" y="1645920"/>
            <a:ext cx="5242255" cy="466344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206240"/>
          </a:xfrm>
          <a:prstGeom prst="rect">
            <a:avLst/>
          </a:prstGeom>
          <a:noFill/>
        </p:spPr>
        <p:txBody>
          <a:bodyPr wrap="square">
            <a:spAutoFit/>
          </a:bodyPr>
          <a:lstStyle/>
          <a:p>
            <a:pPr>
              <a:defRPr sz="1400" b="1">
                <a:solidFill>
                  <a:srgbClr val="DC2626"/>
                </a:solidFill>
              </a:defRPr>
            </a:pPr>
            <a:r>
              <a:t>CẢNH BÁO: RỦI RO KHI TRỘN LẪN (MIXING WAITS)</a:t>
            </a:r>
          </a:p>
          <a:p>
            <a:pPr>
              <a:defRPr sz="1150">
                <a:solidFill>
                  <a:srgbClr val="1E293B"/>
                </a:solidFill>
              </a:defRPr>
            </a:pPr>
            <a:r>
              <a:t>• Cảnh báo từ tài liệu chính thức: Tài liệu Selenium &amp; Appium khuyến cáo KHÔNG NÊN sử dụng đồng thời Implicit Wait và Explicit Wait trong cùng một kịch bản.</a:t>
            </a:r>
          </a:p>
          <a:p>
            <a:pPr>
              <a:defRPr sz="1150">
                <a:solidFill>
                  <a:srgbClr val="1E293B"/>
                </a:solidFill>
              </a:defRPr>
            </a:pPr>
            <a:r>
              <a:t>• Nguyên nhân lỗi: Có thể gây ra sự cộng dồn thời gian chờ không thể đoán trước. Ví dụ: Implicit Wait 10s + Explicit Wait 15s có thể làm bài test bị treo tới 25s trước khi báo lỗi.</a:t>
            </a:r>
          </a:p>
          <a:p>
            <a:pPr>
              <a:defRPr sz="1150">
                <a:solidFill>
                  <a:srgbClr val="1E293B"/>
                </a:solidFill>
              </a:defRPr>
            </a:pPr>
            <a:r>
              <a:t>• Vấn đề kiểm tra không tồn tại: Khi kiểm tra một phần tử KHÔNG được xuất hiện, Implicit Wait sẽ luôn bắt buộc driver phải chờ hết thời gian tối đa trước khi trả về rỗng, gây suy giảm hiệu năng nghiêm trọng.</a:t>
            </a:r>
          </a:p>
          <a:p>
            <a:pPr>
              <a:defRPr sz="1150">
                <a:solidFill>
                  <a:srgbClr val="1E293B"/>
                </a:solidFill>
              </a:defRPr>
            </a:pPr>
            <a:r>
              <a:t>• Khuyến nghị dự án A1: Thiết lập Implicit Wait ngắn (2-3s) làm lưới an toàn cơ bản, và sử dụng Explicit Wait chuyên biệt cho từng tương tác quan trọng.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So Sánh Toàn Diện: Explicit Waits vs Implicit Waits</a:t>
            </a:r>
          </a:p>
        </p:txBody>
      </p:sp>
      <p:graphicFrame>
        <p:nvGraphicFramePr>
          <p:cNvPr id="5" name="Table 4"/>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286000"/>
                <a:gridCol w="4206240"/>
                <a:gridCol w="4236415"/>
              </a:tblGrid>
              <a:tr h="762000">
                <a:tc>
                  <a:txBody>
                    <a:bodyPr/>
                    <a:lstStyle/>
                    <a:p>
                      <a:pPr algn="ctr">
                        <a:defRPr sz="1100" b="1">
                          <a:solidFill>
                            <a:srgbClr val="F1F5F9"/>
                          </a:solidFill>
                          <a:latin typeface="Arial"/>
                        </a:defRPr>
                      </a:pPr>
                      <a:r>
                        <a:t>TIÊU CHÍ SO SÁNH</a:t>
                      </a:r>
                    </a:p>
                  </a:txBody>
                  <a:tcPr>
                    <a:solidFill>
                      <a:srgbClr val="1E2761"/>
                    </a:solidFill>
                  </a:tcPr>
                </a:tc>
                <a:tc>
                  <a:txBody>
                    <a:bodyPr/>
                    <a:lstStyle/>
                    <a:p>
                      <a:pPr algn="ctr">
                        <a:defRPr sz="1100" b="1">
                          <a:solidFill>
                            <a:srgbClr val="F1F5F9"/>
                          </a:solidFill>
                          <a:latin typeface="Arial"/>
                        </a:defRPr>
                      </a:pPr>
                      <a:r>
                        <a:t>EXPLICIT WAITS (CHỜ TƯỜNG MINH)</a:t>
                      </a:r>
                    </a:p>
                  </a:txBody>
                  <a:tcPr>
                    <a:solidFill>
                      <a:srgbClr val="1E2761"/>
                    </a:solidFill>
                  </a:tcPr>
                </a:tc>
                <a:tc>
                  <a:txBody>
                    <a:bodyPr/>
                    <a:lstStyle/>
                    <a:p>
                      <a:pPr algn="ctr">
                        <a:defRPr sz="1100" b="1">
                          <a:solidFill>
                            <a:srgbClr val="F1F5F9"/>
                          </a:solidFill>
                          <a:latin typeface="Arial"/>
                        </a:defRPr>
                      </a:pPr>
                      <a:r>
                        <a:t>IMPLICIT WAITS (CHỜ NGẦM ĐỊNH)</a:t>
                      </a:r>
                    </a:p>
                  </a:txBody>
                  <a:tcPr>
                    <a:solidFill>
                      <a:srgbClr val="1E2761"/>
                    </a:solidFill>
                  </a:tcPr>
                </a:tc>
              </a:tr>
              <a:tr h="762000">
                <a:tc>
                  <a:txBody>
                    <a:bodyPr/>
                    <a:lstStyle/>
                    <a:p>
                      <a:pPr>
                        <a:defRPr sz="1050" b="1">
                          <a:solidFill>
                            <a:srgbClr val="1E2761"/>
                          </a:solidFill>
                          <a:latin typeface="Arial"/>
                        </a:defRPr>
                      </a:pPr>
                      <a:r>
                        <a:t>Phạm vi tác động</a:t>
                      </a:r>
                    </a:p>
                  </a:txBody>
                  <a:tcPr>
                    <a:solidFill>
                      <a:srgbClr val="FFFFFF"/>
                    </a:solidFill>
                  </a:tcPr>
                </a:tc>
                <a:tc>
                  <a:txBody>
                    <a:bodyPr/>
                    <a:lstStyle/>
                    <a:p>
                      <a:pPr>
                        <a:defRPr sz="1050">
                          <a:solidFill>
                            <a:srgbClr val="1E293B"/>
                          </a:solidFill>
                          <a:latin typeface="Arial"/>
                        </a:defRPr>
                      </a:pPr>
                      <a:r>
                        <a:t>Cục bộ trên từng lời gọi kiểm tra phần tử cụ thể.</a:t>
                      </a:r>
                    </a:p>
                  </a:txBody>
                  <a:tcPr>
                    <a:solidFill>
                      <a:srgbClr val="FFFFFF"/>
                    </a:solidFill>
                  </a:tcPr>
                </a:tc>
                <a:tc>
                  <a:txBody>
                    <a:bodyPr/>
                    <a:lstStyle/>
                    <a:p>
                      <a:pPr>
                        <a:defRPr sz="1050">
                          <a:solidFill>
                            <a:srgbClr val="1E293B"/>
                          </a:solidFill>
                          <a:latin typeface="Arial"/>
                        </a:defRPr>
                      </a:pPr>
                      <a:r>
                        <a:t>Toàn cục (Global) trên mọi câu lệnh find_element của driver.</a:t>
                      </a:r>
                    </a:p>
                  </a:txBody>
                  <a:tcPr>
                    <a:solidFill>
                      <a:srgbClr val="FFFFFF"/>
                    </a:solidFill>
                  </a:tcPr>
                </a:tc>
              </a:tr>
              <a:tr h="762000">
                <a:tc>
                  <a:txBody>
                    <a:bodyPr/>
                    <a:lstStyle/>
                    <a:p>
                      <a:pPr>
                        <a:defRPr sz="1050" b="1">
                          <a:solidFill>
                            <a:srgbClr val="1E2761"/>
                          </a:solidFill>
                          <a:latin typeface="Arial"/>
                        </a:defRPr>
                      </a:pPr>
                      <a:r>
                        <a:t>Điều kiện thẩm tra</a:t>
                      </a:r>
                    </a:p>
                  </a:txBody>
                  <a:tcPr>
                    <a:solidFill>
                      <a:srgbClr val="F1F5F9"/>
                    </a:solidFill>
                  </a:tcPr>
                </a:tc>
                <a:tc>
                  <a:txBody>
                    <a:bodyPr/>
                    <a:lstStyle/>
                    <a:p>
                      <a:pPr>
                        <a:defRPr sz="1050">
                          <a:solidFill>
                            <a:srgbClr val="1E293B"/>
                          </a:solidFill>
                          <a:latin typeface="Arial"/>
                        </a:defRPr>
                      </a:pPr>
                      <a:r>
                        <a:t>Đa dạng điều kiện (Hiển thị, Có thể Click, Biến mất, Chứa văn bản...).</a:t>
                      </a:r>
                    </a:p>
                  </a:txBody>
                  <a:tcPr>
                    <a:solidFill>
                      <a:srgbClr val="F1F5F9"/>
                    </a:solidFill>
                  </a:tcPr>
                </a:tc>
                <a:tc>
                  <a:txBody>
                    <a:bodyPr/>
                    <a:lstStyle/>
                    <a:p>
                      <a:pPr>
                        <a:defRPr sz="1050">
                          <a:solidFill>
                            <a:srgbClr val="1E293B"/>
                          </a:solidFill>
                          <a:latin typeface="Arial"/>
                        </a:defRPr>
                      </a:pPr>
                      <a:r>
                        <a:t>Chỉ kiểm tra sự hiện diện (Presence) của phần tử trong DOM/XML.</a:t>
                      </a:r>
                    </a:p>
                  </a:txBody>
                  <a:tcPr>
                    <a:solidFill>
                      <a:srgbClr val="F1F5F9"/>
                    </a:solidFill>
                  </a:tcPr>
                </a:tc>
              </a:tr>
              <a:tr h="762000">
                <a:tc>
                  <a:txBody>
                    <a:bodyPr/>
                    <a:lstStyle/>
                    <a:p>
                      <a:pPr>
                        <a:defRPr sz="1050" b="1">
                          <a:solidFill>
                            <a:srgbClr val="1E2761"/>
                          </a:solidFill>
                          <a:latin typeface="Arial"/>
                        </a:defRPr>
                      </a:pPr>
                      <a:r>
                        <a:t>Tùy biến tham số</a:t>
                      </a:r>
                    </a:p>
                  </a:txBody>
                  <a:tcPr>
                    <a:solidFill>
                      <a:srgbClr val="FFFFFF"/>
                    </a:solidFill>
                  </a:tcPr>
                </a:tc>
                <a:tc>
                  <a:txBody>
                    <a:bodyPr/>
                    <a:lstStyle/>
                    <a:p>
                      <a:pPr>
                        <a:defRPr sz="1050">
                          <a:solidFill>
                            <a:srgbClr val="1E293B"/>
                          </a:solidFill>
                          <a:latin typeface="Arial"/>
                        </a:defRPr>
                      </a:pPr>
                      <a:r>
                        <a:t>Có thể cấu hình thời gian timeout và tần suất polling riêng cho từng thao tác.</a:t>
                      </a:r>
                    </a:p>
                  </a:txBody>
                  <a:tcPr>
                    <a:solidFill>
                      <a:srgbClr val="FFFFFF"/>
                    </a:solidFill>
                  </a:tcPr>
                </a:tc>
                <a:tc>
                  <a:txBody>
                    <a:bodyPr/>
                    <a:lstStyle/>
                    <a:p>
                      <a:pPr>
                        <a:defRPr sz="1050">
                          <a:solidFill>
                            <a:srgbClr val="1E293B"/>
                          </a:solidFill>
                          <a:latin typeface="Arial"/>
                        </a:defRPr>
                      </a:pPr>
                      <a:r>
                        <a:t>Thời gian timeout cố định cho toàn bộ phiên làm việc của driver.</a:t>
                      </a:r>
                    </a:p>
                  </a:txBody>
                  <a:tcPr>
                    <a:solidFill>
                      <a:srgbClr val="FFFFFF"/>
                    </a:solidFill>
                  </a:tcPr>
                </a:tc>
              </a:tr>
              <a:tr h="762000">
                <a:tc>
                  <a:txBody>
                    <a:bodyPr/>
                    <a:lstStyle/>
                    <a:p>
                      <a:pPr>
                        <a:defRPr sz="1050" b="1">
                          <a:solidFill>
                            <a:srgbClr val="1E2761"/>
                          </a:solidFill>
                          <a:latin typeface="Arial"/>
                        </a:defRPr>
                      </a:pPr>
                      <a:r>
                        <a:t>Xử lý ngoại lệ</a:t>
                      </a:r>
                    </a:p>
                  </a:txBody>
                  <a:tcPr>
                    <a:solidFill>
                      <a:srgbClr val="F1F5F9"/>
                    </a:solidFill>
                  </a:tcPr>
                </a:tc>
                <a:tc>
                  <a:txBody>
                    <a:bodyPr/>
                    <a:lstStyle/>
                    <a:p>
                      <a:pPr>
                        <a:defRPr sz="1050">
                          <a:solidFill>
                            <a:srgbClr val="1E293B"/>
                          </a:solidFill>
                          <a:latin typeface="Arial"/>
                        </a:defRPr>
                      </a:pPr>
                      <a:r>
                        <a:t>Ném ra TimeoutException khi điều kiện kiểm tra không thỏa mãn.</a:t>
                      </a:r>
                    </a:p>
                  </a:txBody>
                  <a:tcPr>
                    <a:solidFill>
                      <a:srgbClr val="F1F5F9"/>
                    </a:solidFill>
                  </a:tcPr>
                </a:tc>
                <a:tc>
                  <a:txBody>
                    <a:bodyPr/>
                    <a:lstStyle/>
                    <a:p>
                      <a:pPr>
                        <a:defRPr sz="1050">
                          <a:solidFill>
                            <a:srgbClr val="1E293B"/>
                          </a:solidFill>
                          <a:latin typeface="Arial"/>
                        </a:defRPr>
                      </a:pPr>
                      <a:r>
                        <a:t>Ném ra NoSuchElementException khi không tìm thấy phần tử sau timeout.</a:t>
                      </a:r>
                    </a:p>
                  </a:txBody>
                  <a:tcPr>
                    <a:solidFill>
                      <a:srgbClr val="F1F5F9"/>
                    </a:solidFill>
                  </a:tcPr>
                </a:tc>
              </a:tr>
              <a:tr h="762000">
                <a:tc>
                  <a:txBody>
                    <a:bodyPr/>
                    <a:lstStyle/>
                    <a:p>
                      <a:pPr>
                        <a:defRPr sz="1050" b="1">
                          <a:solidFill>
                            <a:srgbClr val="1E2761"/>
                          </a:solidFill>
                          <a:latin typeface="Arial"/>
                        </a:defRPr>
                      </a:pPr>
                      <a:r>
                        <a:t>Khuyến nghị sử dụng</a:t>
                      </a:r>
                    </a:p>
                  </a:txBody>
                  <a:tcPr>
                    <a:solidFill>
                      <a:srgbClr val="FFFFFF"/>
                    </a:solidFill>
                  </a:tcPr>
                </a:tc>
                <a:tc>
                  <a:txBody>
                    <a:bodyPr/>
                    <a:lstStyle/>
                    <a:p>
                      <a:pPr>
                        <a:defRPr sz="1050">
                          <a:solidFill>
                            <a:srgbClr val="1E293B"/>
                          </a:solidFill>
                          <a:latin typeface="Arial"/>
                        </a:defRPr>
                      </a:pPr>
                      <a:r>
                        <a:t>Chuẩn mực tốt nhất (Best Practice) cho ứng dụng di động hiện đại.</a:t>
                      </a:r>
                    </a:p>
                  </a:txBody>
                  <a:tcPr>
                    <a:solidFill>
                      <a:srgbClr val="FFFFFF"/>
                    </a:solidFill>
                  </a:tcPr>
                </a:tc>
                <a:tc>
                  <a:txBody>
                    <a:bodyPr/>
                    <a:lstStyle/>
                    <a:p>
                      <a:pPr>
                        <a:defRPr sz="1050">
                          <a:solidFill>
                            <a:srgbClr val="1E293B"/>
                          </a:solidFill>
                          <a:latin typeface="Arial"/>
                        </a:defRPr>
                      </a:pPr>
                      <a:r>
                        <a:t>Hạn chế sử dụng, chỉ dùng cho các kịch bản kiểm tra giao diện cơ bản.</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Nghiên Cứu Mục 7.5: Các Chiến Lược Định Vị Phần Tử (Locate By)</a:t>
            </a:r>
          </a:p>
        </p:txBody>
      </p:sp>
      <p:sp>
        <p:nvSpPr>
          <p:cNvPr id="5" name="Rounded Rectangle 4"/>
          <p:cNvSpPr/>
          <p:nvPr/>
        </p:nvSpPr>
        <p:spPr>
          <a:xfrm>
            <a:off x="7315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46320" cy="1920240"/>
          </a:xfrm>
          <a:prstGeom prst="rect">
            <a:avLst/>
          </a:prstGeom>
          <a:noFill/>
        </p:spPr>
        <p:txBody>
          <a:bodyPr wrap="square">
            <a:spAutoFit/>
          </a:bodyPr>
          <a:lstStyle/>
          <a:p>
            <a:pPr>
              <a:defRPr sz="1200" b="1">
                <a:solidFill>
                  <a:srgbClr val="1E2761"/>
                </a:solidFill>
              </a:defRPr>
            </a:pPr>
            <a:r>
              <a:t>1. AppiumBy.ACCESSIBILITY_ID</a:t>
            </a:r>
          </a:p>
          <a:p>
            <a:pPr>
              <a:defRPr sz="1000" b="1">
                <a:solidFill>
                  <a:srgbClr val="10B981"/>
                </a:solidFill>
              </a:defRPr>
            </a:pPr>
            <a:r>
              <a:t>Đánh giá: KHUYÊN DÙNG SỐ 1 (BEST PRACTICE)</a:t>
            </a:r>
          </a:p>
          <a:p>
            <a:pPr>
              <a:defRPr sz="1000">
                <a:solidFill>
                  <a:srgbClr val="1E293B"/>
                </a:solidFill>
              </a:defRPr>
            </a:pPr>
            <a:r>
              <a:t>• Định vị dựa trên thuộc tính `content-desc` trên Android hoặc `accessibilityIdentifier` trên iOS.</a:t>
            </a:r>
            <a:br/>
            <a:r>
              <a:t>• Độc lập hoàn toàn với nền tảng (Cross-platform), tốc độ truy vấn nhanh nhất, không bị phụ thuộc vào sự thay đổi cấu trúc cây UI.</a:t>
            </a:r>
          </a:p>
          <a:p>
            <a:pPr>
              <a:defRPr sz="950" i="1">
                <a:solidFill>
                  <a:srgbClr val="64748B"/>
                </a:solidFill>
              </a:defRPr>
            </a:pPr>
            <a:r>
              <a:t>Ví dụ: driver.find_element(AppiumBy.ACCESSIBILITY_ID, 'test-Modal Selector Button')</a:t>
            </a:r>
          </a:p>
        </p:txBody>
      </p:sp>
      <p:sp>
        <p:nvSpPr>
          <p:cNvPr id="7" name="Rounded Rectangle 6"/>
          <p:cNvSpPr/>
          <p:nvPr/>
        </p:nvSpPr>
        <p:spPr>
          <a:xfrm>
            <a:off x="6217920" y="164592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1920240"/>
          </a:xfrm>
          <a:prstGeom prst="rect">
            <a:avLst/>
          </a:prstGeom>
          <a:noFill/>
        </p:spPr>
        <p:txBody>
          <a:bodyPr wrap="square">
            <a:spAutoFit/>
          </a:bodyPr>
          <a:lstStyle/>
          <a:p>
            <a:pPr>
              <a:defRPr sz="1200" b="1">
                <a:solidFill>
                  <a:srgbClr val="1E2761"/>
                </a:solidFill>
              </a:defRPr>
            </a:pPr>
            <a:r>
              <a:t>2. AppiumBy.ID (Resource-ID)</a:t>
            </a:r>
          </a:p>
          <a:p>
            <a:pPr>
              <a:defRPr sz="1000" b="1">
                <a:solidFill>
                  <a:srgbClr val="2563EB"/>
                </a:solidFill>
              </a:defRPr>
            </a:pPr>
            <a:r>
              <a:t>Đánh giá: TỐT TRÊN NATIVE APP</a:t>
            </a:r>
          </a:p>
          <a:p>
            <a:pPr>
              <a:defRPr sz="1000">
                <a:solidFill>
                  <a:srgbClr val="1E293B"/>
                </a:solidFill>
              </a:defRPr>
            </a:pPr>
            <a:r>
              <a:t>• Định vị thông qua ID tài nguyên do lập trình viên gắn trong mã nguồn ứng dụng (ví dụ: `com.swaglabsmobileapp:id/sort_btn`).</a:t>
            </a:r>
            <a:br/>
            <a:r>
              <a:t>• Tính duy nhất cao trong phạm vi một màn hình, tuy nhiên có thể bị thay đổi giữa các bản build hoặc khác biệt giữa Android/iOS.</a:t>
            </a:r>
          </a:p>
          <a:p>
            <a:pPr>
              <a:defRPr sz="950" i="1">
                <a:solidFill>
                  <a:srgbClr val="64748B"/>
                </a:solidFill>
              </a:defRPr>
            </a:pPr>
            <a:r>
              <a:t>Ví dụ: driver.find_element(AppiumBy.ID, 'com.swaglabsmobileapp:id/btn_sort')</a:t>
            </a:r>
          </a:p>
        </p:txBody>
      </p:sp>
      <p:sp>
        <p:nvSpPr>
          <p:cNvPr id="9" name="Rounded Rectangle 8"/>
          <p:cNvSpPr/>
          <p:nvPr/>
        </p:nvSpPr>
        <p:spPr>
          <a:xfrm>
            <a:off x="731520" y="41148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846320" cy="1920240"/>
          </a:xfrm>
          <a:prstGeom prst="rect">
            <a:avLst/>
          </a:prstGeom>
          <a:noFill/>
        </p:spPr>
        <p:txBody>
          <a:bodyPr wrap="square">
            <a:spAutoFit/>
          </a:bodyPr>
          <a:lstStyle/>
          <a:p>
            <a:pPr>
              <a:defRPr sz="1200" b="1">
                <a:solidFill>
                  <a:srgbClr val="1E2761"/>
                </a:solidFill>
              </a:defRPr>
            </a:pPr>
            <a:r>
              <a:t>3. AppiumBy.XPATH</a:t>
            </a:r>
          </a:p>
          <a:p>
            <a:pPr>
              <a:defRPr sz="1000" b="1">
                <a:solidFill>
                  <a:srgbClr val="EA580C"/>
                </a:solidFill>
              </a:defRPr>
            </a:pPr>
            <a:r>
              <a:t>Đánh giá: LINH HOẠT NHƯNG CHẬM / DỄ HỎNG</a:t>
            </a:r>
          </a:p>
          <a:p>
            <a:pPr>
              <a:defRPr sz="1000">
                <a:solidFill>
                  <a:srgbClr val="1E293B"/>
                </a:solidFill>
              </a:defRPr>
            </a:pPr>
            <a:r>
              <a:t>• Định vị theo đường dẫn tương đối hoặc tuyệt đối trong cây XML phân cấp của ứng dụng.</a:t>
            </a:r>
            <a:br/>
            <a:r>
              <a:t>• Cho phép truy vấn phức tạp (theo cha, con, chứa text). Nhược điểm: Tốc độ parse XML rất chậm trên thiết bị di động, dễ vỡ kịch bản.</a:t>
            </a:r>
          </a:p>
          <a:p>
            <a:pPr>
              <a:defRPr sz="950" i="1">
                <a:solidFill>
                  <a:srgbClr val="64748B"/>
                </a:solidFill>
              </a:defRPr>
            </a:pPr>
            <a:r>
              <a:t>Ví dụ: driver.find_element(AppiumBy.XPATH, "//android.widget.TextView[@text='Sauce Labs Backpack']")</a:t>
            </a:r>
          </a:p>
        </p:txBody>
      </p:sp>
      <p:sp>
        <p:nvSpPr>
          <p:cNvPr id="11" name="Rounded Rectangle 10"/>
          <p:cNvSpPr/>
          <p:nvPr/>
        </p:nvSpPr>
        <p:spPr>
          <a:xfrm>
            <a:off x="6217920" y="41148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920240"/>
          </a:xfrm>
          <a:prstGeom prst="rect">
            <a:avLst/>
          </a:prstGeom>
          <a:noFill/>
        </p:spPr>
        <p:txBody>
          <a:bodyPr wrap="square">
            <a:spAutoFit/>
          </a:bodyPr>
          <a:lstStyle/>
          <a:p>
            <a:pPr>
              <a:defRPr sz="1200" b="1">
                <a:solidFill>
                  <a:srgbClr val="1E2761"/>
                </a:solidFill>
              </a:defRPr>
            </a:pPr>
            <a:r>
              <a:t>4. AppiumBy.ANDROID_UIAUTOMATOR</a:t>
            </a:r>
          </a:p>
          <a:p>
            <a:pPr>
              <a:defRPr sz="1000" b="1">
                <a:solidFill>
                  <a:srgbClr val="1E2761"/>
                </a:solidFill>
              </a:defRPr>
            </a:pPr>
            <a:r>
              <a:t>Đánh giá: CHUYÊN BIỆT CHO HỆ ANDROID</a:t>
            </a:r>
          </a:p>
          <a:p>
            <a:pPr>
              <a:defRPr sz="1000">
                <a:solidFill>
                  <a:srgbClr val="1E293B"/>
                </a:solidFill>
              </a:defRPr>
            </a:pPr>
            <a:r>
              <a:t>• Sử dụng trực tiếp cú pháp UiSelector của framework UiAutomator2 từ Google Android SDK.</a:t>
            </a:r>
            <a:br/>
            <a:r>
              <a:t>• Rất mạnh mẽ cho phép scroll tìm kiếm phần tử nâng cao, scrollIntoView(), nhưng không dùng được cho nền tảng iOS.</a:t>
            </a:r>
          </a:p>
          <a:p>
            <a:pPr>
              <a:defRPr sz="950" i="1">
                <a:solidFill>
                  <a:srgbClr val="64748B"/>
                </a:solidFill>
              </a:defRPr>
            </a:pPr>
            <a:r>
              <a:t>Ví dụ: driver.find_element(AppiumBy.ANDROID_UIAUTOMATOR, 'new UiSelector().text("PRODUCTS")')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Nghiên Cứu Mục 7.1: Quản Lý Biệt Lệ Trong Kiểm Thử Tự Động</a:t>
            </a:r>
          </a:p>
        </p:txBody>
      </p:sp>
      <p:sp>
        <p:nvSpPr>
          <p:cNvPr id="5" name="Rounded Rectangle 4"/>
          <p:cNvSpPr/>
          <p:nvPr/>
        </p:nvSpPr>
        <p:spPr>
          <a:xfrm>
            <a:off x="731520"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99232" cy="4206240"/>
          </a:xfrm>
          <a:prstGeom prst="rect">
            <a:avLst/>
          </a:prstGeom>
          <a:noFill/>
        </p:spPr>
        <p:txBody>
          <a:bodyPr wrap="square">
            <a:spAutoFit/>
          </a:bodyPr>
          <a:lstStyle/>
          <a:p>
            <a:pPr>
              <a:defRPr sz="1300" b="1">
                <a:solidFill>
                  <a:srgbClr val="1E2761"/>
                </a:solidFill>
              </a:defRPr>
            </a:pPr>
            <a:r>
              <a:t>CÁC LOẠI BIỆT LỆ PHỔ BIẾN</a:t>
            </a:r>
          </a:p>
          <a:p>
            <a:pPr>
              <a:defRPr sz="1050">
                <a:solidFill>
                  <a:srgbClr val="1E293B"/>
                </a:solidFill>
              </a:defRPr>
            </a:pPr>
            <a:r>
              <a:t>• TimeoutException: Quá thời gian chờ định trước mà điều kiện kiểm tra của WebDriverWait không trở thành True.</a:t>
            </a:r>
          </a:p>
          <a:p>
            <a:pPr>
              <a:defRPr sz="1050">
                <a:solidFill>
                  <a:srgbClr val="1E293B"/>
                </a:solidFill>
              </a:defRPr>
            </a:pPr>
            <a:r>
              <a:t>• NoSuchElementException: Không tìm thấy bất kỳ element nào khớp với selector trong cây phân cấp XML hiện tại.</a:t>
            </a:r>
          </a:p>
          <a:p>
            <a:pPr>
              <a:defRPr sz="1050">
                <a:solidFill>
                  <a:srgbClr val="1E293B"/>
                </a:solidFill>
              </a:defRPr>
            </a:pPr>
            <a:r>
              <a:t>• StaleElementReferenceException: Phần tử đã tham chiếu bị xóa hoặc render lại do trang thay đổi/chuyển view.</a:t>
            </a:r>
          </a:p>
          <a:p>
            <a:pPr>
              <a:defRPr sz="1050">
                <a:solidFill>
                  <a:srgbClr val="1E293B"/>
                </a:solidFill>
              </a:defRPr>
            </a:pPr>
            <a:r>
              <a:t>• InvalidSelectorException: Bộ chọn XPath hoặc cú pháp UiSelector bị sai định dạng chuẩn.</a:t>
            </a:r>
          </a:p>
        </p:txBody>
      </p:sp>
      <p:sp>
        <p:nvSpPr>
          <p:cNvPr id="7" name="Rounded Rectangle 6"/>
          <p:cNvSpPr/>
          <p:nvPr/>
        </p:nvSpPr>
        <p:spPr>
          <a:xfrm>
            <a:off x="4398264"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828800"/>
            <a:ext cx="2999232" cy="4206240"/>
          </a:xfrm>
          <a:prstGeom prst="rect">
            <a:avLst/>
          </a:prstGeom>
          <a:noFill/>
        </p:spPr>
        <p:txBody>
          <a:bodyPr wrap="square">
            <a:spAutoFit/>
          </a:bodyPr>
          <a:lstStyle/>
          <a:p>
            <a:pPr>
              <a:defRPr sz="1300" b="1">
                <a:solidFill>
                  <a:srgbClr val="028090"/>
                </a:solidFill>
              </a:defRPr>
            </a:pPr>
            <a:r>
              <a:t>CHIẾN LƯỢC XỬ LÝ AN TOÀN</a:t>
            </a:r>
          </a:p>
          <a:p>
            <a:pPr>
              <a:defRPr sz="1050">
                <a:solidFill>
                  <a:srgbClr val="1E293B"/>
                </a:solidFill>
              </a:defRPr>
            </a:pPr>
            <a:r>
              <a:t>• Khối try...except có chủ đích: Chỉ bắt đúng loại ngoại lệ dự kiến (như TimeoutException), không dùng bare except: bừa bãi.</a:t>
            </a:r>
          </a:p>
          <a:p>
            <a:pPr>
              <a:defRPr sz="1050">
                <a:solidFill>
                  <a:srgbClr val="1E293B"/>
                </a:solidFill>
              </a:defRPr>
            </a:pPr>
            <a:r>
              <a:t>• Ghi log &amp; Chụp ảnh minh chứng: Tự động kích hoạt hàm driver.save_screenshot() ngay khi biệt lệ xảy ra để phục vụ điều tra lỗi.</a:t>
            </a:r>
          </a:p>
          <a:p>
            <a:pPr>
              <a:defRPr sz="1050">
                <a:solidFill>
                  <a:srgbClr val="1E293B"/>
                </a:solidFill>
              </a:defRPr>
            </a:pPr>
            <a:r>
              <a:t>• Dọn dẹp môi trường (finally): Đảm bảo đóng phiên làm việc bằng driver.quit() dù kiểm thử thành công hay phát sinh lỗi.</a:t>
            </a:r>
          </a:p>
          <a:p>
            <a:pPr>
              <a:defRPr sz="1050">
                <a:solidFill>
                  <a:srgbClr val="1E293B"/>
                </a:solidFill>
              </a:defRPr>
            </a:pPr>
            <a:r>
              <a:t>• Cơ chế thử lại (Retry Pattern): Tái thực hiện tìm kiếm phần tử khi gặp StaleElementReferenceException.</a:t>
            </a:r>
          </a:p>
        </p:txBody>
      </p:sp>
      <p:sp>
        <p:nvSpPr>
          <p:cNvPr id="9" name="Rounded Rectangle 8"/>
          <p:cNvSpPr/>
          <p:nvPr/>
        </p:nvSpPr>
        <p:spPr>
          <a:xfrm>
            <a:off x="8065008" y="1645920"/>
            <a:ext cx="3364992"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1828800"/>
            <a:ext cx="2999232" cy="4206240"/>
          </a:xfrm>
          <a:prstGeom prst="rect">
            <a:avLst/>
          </a:prstGeom>
          <a:noFill/>
        </p:spPr>
        <p:txBody>
          <a:bodyPr wrap="square">
            <a:spAutoFit/>
          </a:bodyPr>
          <a:lstStyle/>
          <a:p>
            <a:pPr>
              <a:defRPr sz="1300" b="1">
                <a:solidFill>
                  <a:srgbClr val="2563EB"/>
                </a:solidFill>
              </a:defRPr>
            </a:pPr>
            <a:r>
              <a:t>MÃ NGUỒN XỬ LÝ (TC06)</a:t>
            </a:r>
          </a:p>
          <a:p>
            <a:pPr>
              <a:defRPr sz="950">
                <a:solidFill>
                  <a:srgbClr val="1E293B"/>
                </a:solidFill>
                <a:latin typeface="Courier New"/>
              </a:defRPr>
            </a:pPr>
            <a:r>
              <a:t>from selenium.common.exceptions import TimeoutException</a:t>
            </a:r>
          </a:p>
          <a:p>
            <a:pPr>
              <a:defRPr sz="950">
                <a:solidFill>
                  <a:srgbClr val="1E293B"/>
                </a:solidFill>
                <a:latin typeface="Courier New"/>
              </a:defRPr>
            </a:pPr>
          </a:p>
          <a:p>
            <a:pPr>
              <a:defRPr sz="950">
                <a:solidFill>
                  <a:srgbClr val="1E293B"/>
                </a:solidFill>
                <a:latin typeface="Courier New"/>
              </a:defRPr>
            </a:pPr>
            <a:r>
              <a:t>short_wait = WebDriverWait(driver, 1.5)</a:t>
            </a:r>
          </a:p>
          <a:p>
            <a:pPr>
              <a:defRPr sz="950">
                <a:solidFill>
                  <a:srgbClr val="1E293B"/>
                </a:solidFill>
                <a:latin typeface="Courier New"/>
              </a:defRPr>
            </a:pPr>
            <a:r>
              <a:t>try:</a:t>
            </a:r>
          </a:p>
          <a:p>
            <a:pPr>
              <a:defRPr sz="950">
                <a:solidFill>
                  <a:srgbClr val="1E293B"/>
                </a:solidFill>
                <a:latin typeface="Courier New"/>
              </a:defRPr>
            </a:pPr>
            <a:r>
              <a:t>    short_wait.until(</a:t>
            </a:r>
          </a:p>
          <a:p>
            <a:pPr>
              <a:defRPr sz="950">
                <a:solidFill>
                  <a:srgbClr val="1E293B"/>
                </a:solidFill>
                <a:latin typeface="Courier New"/>
              </a:defRPr>
            </a:pPr>
            <a:r>
              <a:t>        EC.visibility_of_element_located(</a:t>
            </a:r>
          </a:p>
          <a:p>
            <a:pPr>
              <a:defRPr sz="950">
                <a:solidFill>
                  <a:srgbClr val="1E293B"/>
                </a:solidFill>
                <a:latin typeface="Courier New"/>
              </a:defRPr>
            </a:pPr>
            <a:r>
              <a:t>            (AppiumBy.ACCESSIBILITY_ID, 'test-NonExistent')</a:t>
            </a:r>
          </a:p>
          <a:p>
            <a:pPr>
              <a:defRPr sz="950">
                <a:solidFill>
                  <a:srgbClr val="1E293B"/>
                </a:solidFill>
                <a:latin typeface="Courier New"/>
              </a:defRPr>
            </a:pPr>
            <a:r>
              <a:t>        )</a:t>
            </a:r>
          </a:p>
          <a:p>
            <a:pPr>
              <a:defRPr sz="950">
                <a:solidFill>
                  <a:srgbClr val="1E293B"/>
                </a:solidFill>
                <a:latin typeface="Courier New"/>
              </a:defRPr>
            </a:pPr>
            <a:r>
              <a:t>    )</a:t>
            </a:r>
          </a:p>
          <a:p>
            <a:pPr>
              <a:defRPr sz="950">
                <a:solidFill>
                  <a:srgbClr val="1E293B"/>
                </a:solidFill>
                <a:latin typeface="Courier New"/>
              </a:defRPr>
            </a:pPr>
            <a:r>
              <a:t>    assert False, 'Lẽ ra phải ném TimeoutException'</a:t>
            </a:r>
          </a:p>
          <a:p>
            <a:pPr>
              <a:defRPr sz="950">
                <a:solidFill>
                  <a:srgbClr val="1E293B"/>
                </a:solidFill>
                <a:latin typeface="Courier New"/>
              </a:defRPr>
            </a:pPr>
            <a:r>
              <a:t>except TimeoutException as ex:</a:t>
            </a:r>
          </a:p>
          <a:p>
            <a:pPr>
              <a:defRPr sz="950">
                <a:solidFill>
                  <a:srgbClr val="1E293B"/>
                </a:solidFill>
                <a:latin typeface="Courier New"/>
              </a:defRPr>
            </a:pPr>
            <a:r>
              <a:t>    print('Bắt TimeoutException thành công!')</a:t>
            </a:r>
          </a:p>
          <a:p>
            <a:pPr>
              <a:defRPr sz="950">
                <a:solidFill>
                  <a:srgbClr val="1E293B"/>
                </a:solidFill>
                <a:latin typeface="Courier New"/>
              </a:defRPr>
            </a:pPr>
            <a:r>
              <a:t>    driver.save_screenshot('anh/tc06.png')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Thiết Kế Danh Mục 6 Kịch Bản Kiểm Thử (TC01 - TC06)</a:t>
            </a:r>
          </a:p>
        </p:txBody>
      </p:sp>
      <p:graphicFrame>
        <p:nvGraphicFramePr>
          <p:cNvPr id="5" name="Table 4"/>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1097280"/>
                <a:gridCol w="2926080"/>
                <a:gridCol w="4389120"/>
                <a:gridCol w="2316175"/>
              </a:tblGrid>
              <a:tr h="666205">
                <a:tc>
                  <a:txBody>
                    <a:bodyPr/>
                    <a:lstStyle/>
                    <a:p>
                      <a:pPr algn="ctr">
                        <a:defRPr sz="1100" b="1">
                          <a:solidFill>
                            <a:srgbClr val="F1F5F9"/>
                          </a:solidFill>
                          <a:latin typeface="Arial"/>
                        </a:defRPr>
                      </a:pPr>
                      <a:r>
                        <a:t>MÃ TC</a:t>
                      </a:r>
                    </a:p>
                  </a:txBody>
                  <a:tcPr>
                    <a:solidFill>
                      <a:srgbClr val="1E2761"/>
                    </a:solidFill>
                  </a:tcPr>
                </a:tc>
                <a:tc>
                  <a:txBody>
                    <a:bodyPr/>
                    <a:lstStyle/>
                    <a:p>
                      <a:pPr algn="ctr">
                        <a:defRPr sz="1100" b="1">
                          <a:solidFill>
                            <a:srgbClr val="F1F5F9"/>
                          </a:solidFill>
                          <a:latin typeface="Arial"/>
                        </a:defRPr>
                      </a:pPr>
                      <a:r>
                        <a:t>TÊN KỊCH BẢN</a:t>
                      </a:r>
                    </a:p>
                  </a:txBody>
                  <a:tcPr>
                    <a:solidFill>
                      <a:srgbClr val="1E2761"/>
                    </a:solidFill>
                  </a:tcPr>
                </a:tc>
                <a:tc>
                  <a:txBody>
                    <a:bodyPr/>
                    <a:lstStyle/>
                    <a:p>
                      <a:pPr algn="ctr">
                        <a:defRPr sz="1100" b="1">
                          <a:solidFill>
                            <a:srgbClr val="F1F5F9"/>
                          </a:solidFill>
                          <a:latin typeface="Arial"/>
                        </a:defRPr>
                      </a:pPr>
                      <a:r>
                        <a:t>CÁC BƯỚC THỰC HIỆN &amp; ĐIỀU KIỆN</a:t>
                      </a:r>
                    </a:p>
                  </a:txBody>
                  <a:tcPr>
                    <a:solidFill>
                      <a:srgbClr val="1E2761"/>
                    </a:solidFill>
                  </a:tcPr>
                </a:tc>
                <a:tc>
                  <a:txBody>
                    <a:bodyPr/>
                    <a:lstStyle/>
                    <a:p>
                      <a:pPr algn="ctr">
                        <a:defRPr sz="1100" b="1">
                          <a:solidFill>
                            <a:srgbClr val="F1F5F9"/>
                          </a:solidFill>
                          <a:latin typeface="Arial"/>
                        </a:defRPr>
                      </a:pPr>
                      <a:r>
                        <a:t>KẾT QUẢ KỲ VỌNG</a:t>
                      </a:r>
                    </a:p>
                  </a:txBody>
                  <a:tcPr>
                    <a:solidFill>
                      <a:srgbClr val="1E2761"/>
                    </a:solidFill>
                  </a:tcPr>
                </a:tc>
              </a:tr>
              <a:tr h="666205">
                <a:tc>
                  <a:txBody>
                    <a:bodyPr/>
                    <a:lstStyle/>
                    <a:p>
                      <a:pPr algn="ctr">
                        <a:defRPr sz="1000" b="1">
                          <a:solidFill>
                            <a:srgbClr val="2563EB"/>
                          </a:solidFill>
                          <a:latin typeface="Arial"/>
                        </a:defRPr>
                      </a:pPr>
                      <a:r>
                        <a:t>TC01</a:t>
                      </a:r>
                    </a:p>
                  </a:txBody>
                  <a:tcPr>
                    <a:solidFill>
                      <a:srgbClr val="FFFFFF"/>
                    </a:solidFill>
                  </a:tcPr>
                </a:tc>
                <a:tc>
                  <a:txBody>
                    <a:bodyPr/>
                    <a:lstStyle/>
                    <a:p>
                      <a:pPr>
                        <a:defRPr sz="1000">
                          <a:solidFill>
                            <a:srgbClr val="1E293B"/>
                          </a:solidFill>
                          <a:latin typeface="Arial"/>
                        </a:defRPr>
                      </a:pPr>
                      <a:r>
                        <a:t>Sắp xếp theo tên A đến Z</a:t>
                      </a:r>
                    </a:p>
                  </a:txBody>
                  <a:tcPr>
                    <a:solidFill>
                      <a:srgbClr val="FFFFFF"/>
                    </a:solidFill>
                  </a:tcPr>
                </a:tc>
                <a:tc>
                  <a:txBody>
                    <a:bodyPr/>
                    <a:lstStyle/>
                    <a:p>
                      <a:pPr>
                        <a:defRPr sz="1000">
                          <a:solidFill>
                            <a:srgbClr val="1E293B"/>
                          </a:solidFill>
                          <a:latin typeface="Arial"/>
                        </a:defRPr>
                      </a:pPr>
                      <a:r>
                        <a:t>Mở Sort Modal -&gt; Chọn 'Name (A to Z)' -&gt; Lấy danh sách tiêu đề sản phẩm.</a:t>
                      </a:r>
                    </a:p>
                  </a:txBody>
                  <a:tcPr>
                    <a:solidFill>
                      <a:srgbClr val="FFFFFF"/>
                    </a:solidFill>
                  </a:tcPr>
                </a:tc>
                <a:tc>
                  <a:txBody>
                    <a:bodyPr/>
                    <a:lstStyle/>
                    <a:p>
                      <a:pPr>
                        <a:defRPr sz="1000">
                          <a:solidFill>
                            <a:srgbClr val="1E293B"/>
                          </a:solidFill>
                          <a:latin typeface="Arial"/>
                        </a:defRPr>
                      </a:pPr>
                      <a:r>
                        <a:t>Danh sách tên sản phẩm được sắp xếp tăng dần từ A đến Z.</a:t>
                      </a:r>
                    </a:p>
                  </a:txBody>
                  <a:tcPr>
                    <a:solidFill>
                      <a:srgbClr val="FFFFFF"/>
                    </a:solidFill>
                  </a:tcPr>
                </a:tc>
              </a:tr>
              <a:tr h="666205">
                <a:tc>
                  <a:txBody>
                    <a:bodyPr/>
                    <a:lstStyle/>
                    <a:p>
                      <a:pPr algn="ctr">
                        <a:defRPr sz="1000" b="1">
                          <a:solidFill>
                            <a:srgbClr val="2563EB"/>
                          </a:solidFill>
                          <a:latin typeface="Arial"/>
                        </a:defRPr>
                      </a:pPr>
                      <a:r>
                        <a:t>TC02</a:t>
                      </a:r>
                    </a:p>
                  </a:txBody>
                  <a:tcPr>
                    <a:solidFill>
                      <a:srgbClr val="F1F5F9"/>
                    </a:solidFill>
                  </a:tcPr>
                </a:tc>
                <a:tc>
                  <a:txBody>
                    <a:bodyPr/>
                    <a:lstStyle/>
                    <a:p>
                      <a:pPr>
                        <a:defRPr sz="1000">
                          <a:solidFill>
                            <a:srgbClr val="1E293B"/>
                          </a:solidFill>
                          <a:latin typeface="Arial"/>
                        </a:defRPr>
                      </a:pPr>
                      <a:r>
                        <a:t>Sắp xếp theo tên Z đến A</a:t>
                      </a:r>
                    </a:p>
                  </a:txBody>
                  <a:tcPr>
                    <a:solidFill>
                      <a:srgbClr val="F1F5F9"/>
                    </a:solidFill>
                  </a:tcPr>
                </a:tc>
                <a:tc>
                  <a:txBody>
                    <a:bodyPr/>
                    <a:lstStyle/>
                    <a:p>
                      <a:pPr>
                        <a:defRPr sz="1000">
                          <a:solidFill>
                            <a:srgbClr val="1E293B"/>
                          </a:solidFill>
                          <a:latin typeface="Arial"/>
                        </a:defRPr>
                      </a:pPr>
                      <a:r>
                        <a:t>Mở Sort Modal -&gt; Chọn 'Name (Z to A)' -&gt; Lấy danh sách tiêu đề sản phẩm.</a:t>
                      </a:r>
                    </a:p>
                  </a:txBody>
                  <a:tcPr>
                    <a:solidFill>
                      <a:srgbClr val="F1F5F9"/>
                    </a:solidFill>
                  </a:tcPr>
                </a:tc>
                <a:tc>
                  <a:txBody>
                    <a:bodyPr/>
                    <a:lstStyle/>
                    <a:p>
                      <a:pPr>
                        <a:defRPr sz="1000">
                          <a:solidFill>
                            <a:srgbClr val="1E293B"/>
                          </a:solidFill>
                          <a:latin typeface="Arial"/>
                        </a:defRPr>
                      </a:pPr>
                      <a:r>
                        <a:t>Danh sách tên sản phẩm được sắp xếp giảm dần từ Z đến A.</a:t>
                      </a:r>
                    </a:p>
                  </a:txBody>
                  <a:tcPr>
                    <a:solidFill>
                      <a:srgbClr val="F1F5F9"/>
                    </a:solidFill>
                  </a:tcPr>
                </a:tc>
              </a:tr>
              <a:tr h="666205">
                <a:tc>
                  <a:txBody>
                    <a:bodyPr/>
                    <a:lstStyle/>
                    <a:p>
                      <a:pPr algn="ctr">
                        <a:defRPr sz="1000" b="1">
                          <a:solidFill>
                            <a:srgbClr val="2563EB"/>
                          </a:solidFill>
                          <a:latin typeface="Arial"/>
                        </a:defRPr>
                      </a:pPr>
                      <a:r>
                        <a:t>TC03</a:t>
                      </a:r>
                    </a:p>
                  </a:txBody>
                  <a:tcPr>
                    <a:solidFill>
                      <a:srgbClr val="FFFFFF"/>
                    </a:solidFill>
                  </a:tcPr>
                </a:tc>
                <a:tc>
                  <a:txBody>
                    <a:bodyPr/>
                    <a:lstStyle/>
                    <a:p>
                      <a:pPr>
                        <a:defRPr sz="1000">
                          <a:solidFill>
                            <a:srgbClr val="1E293B"/>
                          </a:solidFill>
                          <a:latin typeface="Arial"/>
                        </a:defRPr>
                      </a:pPr>
                      <a:r>
                        <a:t>Sắp xếp giá Thấp đến Cao</a:t>
                      </a:r>
                    </a:p>
                  </a:txBody>
                  <a:tcPr>
                    <a:solidFill>
                      <a:srgbClr val="FFFFFF"/>
                    </a:solidFill>
                  </a:tcPr>
                </a:tc>
                <a:tc>
                  <a:txBody>
                    <a:bodyPr/>
                    <a:lstStyle/>
                    <a:p>
                      <a:pPr>
                        <a:defRPr sz="1000">
                          <a:solidFill>
                            <a:srgbClr val="1E293B"/>
                          </a:solidFill>
                          <a:latin typeface="Arial"/>
                        </a:defRPr>
                      </a:pPr>
                      <a:r>
                        <a:t>Mở Sort Modal -&gt; Chọn 'Price (low to high)' -&gt; Lấy danh sách giá sản phẩm.</a:t>
                      </a:r>
                    </a:p>
                  </a:txBody>
                  <a:tcPr>
                    <a:solidFill>
                      <a:srgbClr val="FFFFFF"/>
                    </a:solidFill>
                  </a:tcPr>
                </a:tc>
                <a:tc>
                  <a:txBody>
                    <a:bodyPr/>
                    <a:lstStyle/>
                    <a:p>
                      <a:pPr>
                        <a:defRPr sz="1000">
                          <a:solidFill>
                            <a:srgbClr val="1E293B"/>
                          </a:solidFill>
                          <a:latin typeface="Arial"/>
                        </a:defRPr>
                      </a:pPr>
                      <a:r>
                        <a:t>Danh sách giá số thực tăng dần ($7.99 -&gt; $9.99 -&gt; ... -&gt; $49.99).</a:t>
                      </a:r>
                    </a:p>
                  </a:txBody>
                  <a:tcPr>
                    <a:solidFill>
                      <a:srgbClr val="FFFFFF"/>
                    </a:solidFill>
                  </a:tcPr>
                </a:tc>
              </a:tr>
              <a:tr h="666205">
                <a:tc>
                  <a:txBody>
                    <a:bodyPr/>
                    <a:lstStyle/>
                    <a:p>
                      <a:pPr algn="ctr">
                        <a:defRPr sz="1000" b="1">
                          <a:solidFill>
                            <a:srgbClr val="2563EB"/>
                          </a:solidFill>
                          <a:latin typeface="Arial"/>
                        </a:defRPr>
                      </a:pPr>
                      <a:r>
                        <a:t>TC04</a:t>
                      </a:r>
                    </a:p>
                  </a:txBody>
                  <a:tcPr>
                    <a:solidFill>
                      <a:srgbClr val="F1F5F9"/>
                    </a:solidFill>
                  </a:tcPr>
                </a:tc>
                <a:tc>
                  <a:txBody>
                    <a:bodyPr/>
                    <a:lstStyle/>
                    <a:p>
                      <a:pPr>
                        <a:defRPr sz="1000">
                          <a:solidFill>
                            <a:srgbClr val="1E293B"/>
                          </a:solidFill>
                          <a:latin typeface="Arial"/>
                        </a:defRPr>
                      </a:pPr>
                      <a:r>
                        <a:t>Sắp xếp giá Cao đến Thấp</a:t>
                      </a:r>
                    </a:p>
                  </a:txBody>
                  <a:tcPr>
                    <a:solidFill>
                      <a:srgbClr val="F1F5F9"/>
                    </a:solidFill>
                  </a:tcPr>
                </a:tc>
                <a:tc>
                  <a:txBody>
                    <a:bodyPr/>
                    <a:lstStyle/>
                    <a:p>
                      <a:pPr>
                        <a:defRPr sz="1000">
                          <a:solidFill>
                            <a:srgbClr val="1E293B"/>
                          </a:solidFill>
                          <a:latin typeface="Arial"/>
                        </a:defRPr>
                      </a:pPr>
                      <a:r>
                        <a:t>Mở Sort Modal -&gt; Chọn 'Price (high to low)' -&gt; Lấy danh sách giá sản phẩm.</a:t>
                      </a:r>
                    </a:p>
                  </a:txBody>
                  <a:tcPr>
                    <a:solidFill>
                      <a:srgbClr val="F1F5F9"/>
                    </a:solidFill>
                  </a:tcPr>
                </a:tc>
                <a:tc>
                  <a:txBody>
                    <a:bodyPr/>
                    <a:lstStyle/>
                    <a:p>
                      <a:pPr>
                        <a:defRPr sz="1000">
                          <a:solidFill>
                            <a:srgbClr val="1E293B"/>
                          </a:solidFill>
                          <a:latin typeface="Arial"/>
                        </a:defRPr>
                      </a:pPr>
                      <a:r>
                        <a:t>Danh sách giá số thực giảm dần ($49.99 -&gt; $29.99 -&gt; ... -&gt; $7.99).</a:t>
                      </a:r>
                    </a:p>
                  </a:txBody>
                  <a:tcPr>
                    <a:solidFill>
                      <a:srgbClr val="F1F5F9"/>
                    </a:solidFill>
                  </a:tcPr>
                </a:tc>
              </a:tr>
              <a:tr h="666205">
                <a:tc>
                  <a:txBody>
                    <a:bodyPr/>
                    <a:lstStyle/>
                    <a:p>
                      <a:pPr algn="ctr">
                        <a:defRPr sz="1000" b="1">
                          <a:solidFill>
                            <a:srgbClr val="2563EB"/>
                          </a:solidFill>
                          <a:latin typeface="Arial"/>
                        </a:defRPr>
                      </a:pPr>
                      <a:r>
                        <a:t>TC05</a:t>
                      </a:r>
                    </a:p>
                  </a:txBody>
                  <a:tcPr>
                    <a:solidFill>
                      <a:srgbClr val="FFFFFF"/>
                    </a:solidFill>
                  </a:tcPr>
                </a:tc>
                <a:tc>
                  <a:txBody>
                    <a:bodyPr/>
                    <a:lstStyle/>
                    <a:p>
                      <a:pPr>
                        <a:defRPr sz="1000">
                          <a:solidFill>
                            <a:srgbClr val="1E293B"/>
                          </a:solidFill>
                          <a:latin typeface="Arial"/>
                        </a:defRPr>
                      </a:pPr>
                      <a:r>
                        <a:t>Explicit Wait hiển thị Modal</a:t>
                      </a:r>
                    </a:p>
                  </a:txBody>
                  <a:tcPr>
                    <a:solidFill>
                      <a:srgbClr val="FFFFFF"/>
                    </a:solidFill>
                  </a:tcPr>
                </a:tc>
                <a:tc>
                  <a:txBody>
                    <a:bodyPr/>
                    <a:lstStyle/>
                    <a:p>
                      <a:pPr>
                        <a:defRPr sz="1000">
                          <a:solidFill>
                            <a:srgbClr val="1E293B"/>
                          </a:solidFill>
                          <a:latin typeface="Arial"/>
                        </a:defRPr>
                      </a:pPr>
                      <a:r>
                        <a:t>Click nút Sort -&gt; Dùng WebDriverWait với EC.visibility_of_element_located.</a:t>
                      </a:r>
                    </a:p>
                  </a:txBody>
                  <a:tcPr>
                    <a:solidFill>
                      <a:srgbClr val="FFFFFF"/>
                    </a:solidFill>
                  </a:tcPr>
                </a:tc>
                <a:tc>
                  <a:txBody>
                    <a:bodyPr/>
                    <a:lstStyle/>
                    <a:p>
                      <a:pPr>
                        <a:defRPr sz="1000">
                          <a:solidFill>
                            <a:srgbClr val="1E293B"/>
                          </a:solidFill>
                          <a:latin typeface="Arial"/>
                        </a:defRPr>
                      </a:pPr>
                      <a:r>
                        <a:t>Modal Selector xuất hiện trên màn hình trong thời gian timeout 10s.</a:t>
                      </a:r>
                    </a:p>
                  </a:txBody>
                  <a:tcPr>
                    <a:solidFill>
                      <a:srgbClr val="FFFFFF"/>
                    </a:solidFill>
                  </a:tcPr>
                </a:tc>
              </a:tr>
              <a:tr h="666210">
                <a:tc>
                  <a:txBody>
                    <a:bodyPr/>
                    <a:lstStyle/>
                    <a:p>
                      <a:pPr algn="ctr">
                        <a:defRPr sz="1000" b="1">
                          <a:solidFill>
                            <a:srgbClr val="2563EB"/>
                          </a:solidFill>
                          <a:latin typeface="Arial"/>
                        </a:defRPr>
                      </a:pPr>
                      <a:r>
                        <a:t>TC06</a:t>
                      </a:r>
                    </a:p>
                  </a:txBody>
                  <a:tcPr>
                    <a:solidFill>
                      <a:srgbClr val="F1F5F9"/>
                    </a:solidFill>
                  </a:tcPr>
                </a:tc>
                <a:tc>
                  <a:txBody>
                    <a:bodyPr/>
                    <a:lstStyle/>
                    <a:p>
                      <a:pPr>
                        <a:defRPr sz="1000">
                          <a:solidFill>
                            <a:srgbClr val="1E293B"/>
                          </a:solidFill>
                          <a:latin typeface="Arial"/>
                        </a:defRPr>
                      </a:pPr>
                      <a:r>
                        <a:t>Bắt biệt lệ TimeoutException</a:t>
                      </a:r>
                    </a:p>
                  </a:txBody>
                  <a:tcPr>
                    <a:solidFill>
                      <a:srgbClr val="F1F5F9"/>
                    </a:solidFill>
                  </a:tcPr>
                </a:tc>
                <a:tc>
                  <a:txBody>
                    <a:bodyPr/>
                    <a:lstStyle/>
                    <a:p>
                      <a:pPr>
                        <a:defRPr sz="1000">
                          <a:solidFill>
                            <a:srgbClr val="1E293B"/>
                          </a:solidFill>
                          <a:latin typeface="Arial"/>
                        </a:defRPr>
                      </a:pPr>
                      <a:r>
                        <a:t>Tìm kiếm phần tử không tồn tại 'test-NonExistent' với timeout 1.5s.</a:t>
                      </a:r>
                    </a:p>
                  </a:txBody>
                  <a:tcPr>
                    <a:solidFill>
                      <a:srgbClr val="F1F5F9"/>
                    </a:solidFill>
                  </a:tcPr>
                </a:tc>
                <a:tc>
                  <a:txBody>
                    <a:bodyPr/>
                    <a:lstStyle/>
                    <a:p>
                      <a:pPr>
                        <a:defRPr sz="1000">
                          <a:solidFill>
                            <a:srgbClr val="1E293B"/>
                          </a:solidFill>
                          <a:latin typeface="Arial"/>
                        </a:defRPr>
                      </a:pPr>
                      <a:r>
                        <a:t>Hệ thống ném đúng TimeoutException và xử lý an toàn không sập test.</a:t>
                      </a:r>
                    </a:p>
                  </a:txBody>
                  <a:tcP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Kiến Trúc Kịch Bản &amp; Thực Thi Đầy Đủ Các Hàm Yêu Cầu</a:t>
            </a:r>
          </a:p>
        </p:txBody>
      </p:sp>
      <p:sp>
        <p:nvSpPr>
          <p:cNvPr id="5" name="Rounded Rectangle 4"/>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4206240"/>
          </a:xfrm>
          <a:prstGeom prst="rect">
            <a:avLst/>
          </a:prstGeom>
          <a:noFill/>
        </p:spPr>
        <p:txBody>
          <a:bodyPr wrap="square">
            <a:spAutoFit/>
          </a:bodyPr>
          <a:lstStyle/>
          <a:p>
            <a:pPr>
              <a:defRPr sz="1300" b="1">
                <a:solidFill>
                  <a:srgbClr val="1E2761"/>
                </a:solidFill>
              </a:defRPr>
            </a:pPr>
            <a:r>
              <a:t>CÁC HÀM BẮT BUỘC THEO PHÂN CÔNG</a:t>
            </a:r>
          </a:p>
          <a:p>
            <a:pPr>
              <a:defRPr sz="1050">
                <a:solidFill>
                  <a:srgbClr val="1E293B"/>
                </a:solidFill>
              </a:defRPr>
            </a:pPr>
            <a:r>
              <a:t>✓ webdriver.Remote: Khởi tạo Appium Session với AppiumOptions (platformName='Android', automationName='UiAutomator2').</a:t>
            </a:r>
          </a:p>
          <a:p>
            <a:pPr>
              <a:defRPr sz="1050">
                <a:solidFill>
                  <a:srgbClr val="1E293B"/>
                </a:solidFill>
              </a:defRPr>
            </a:pPr>
            <a:r>
              <a:t>✓ AppiumBy.ACCESSIBILITY_ID: Định vị các element bằng accessibility id (test-Modal Selector Button, test-Item title...).</a:t>
            </a:r>
          </a:p>
          <a:p>
            <a:pPr>
              <a:defRPr sz="1050">
                <a:solidFill>
                  <a:srgbClr val="1E293B"/>
                </a:solidFill>
              </a:defRPr>
            </a:pPr>
            <a:r>
              <a:t>✓ WebDriverWait: Khởi tạo đối tượng chờ tường minh với thời gian timeout 10 giây.</a:t>
            </a:r>
          </a:p>
          <a:p>
            <a:pPr>
              <a:defRPr sz="1050">
                <a:solidFill>
                  <a:srgbClr val="1E293B"/>
                </a:solidFill>
              </a:defRPr>
            </a:pPr>
            <a:r>
              <a:t>✓ EC.visibility_of_element_located: Đợi Modal sắp xếp hiển thị trên màn hình.</a:t>
            </a:r>
          </a:p>
          <a:p>
            <a:pPr>
              <a:defRPr sz="1050">
                <a:solidFill>
                  <a:srgbClr val="1E293B"/>
                </a:solidFill>
              </a:defRPr>
            </a:pPr>
            <a:r>
              <a:t>✓ EC.element_to_be_clickable: Đợi tùy chọn sắp xếp sẵn sàng nhận sự kiện nhấn.</a:t>
            </a:r>
          </a:p>
          <a:p>
            <a:pPr>
              <a:defRPr sz="1050">
                <a:solidFill>
                  <a:srgbClr val="1E293B"/>
                </a:solidFill>
              </a:defRPr>
            </a:pPr>
            <a:r>
              <a:t>✓ driver.implicitly_wait(5): Thiết lập thời gian chờ ngầm định toàn cục khi khởi tạo driver.</a:t>
            </a:r>
          </a:p>
          <a:p>
            <a:pPr>
              <a:defRPr sz="1050">
                <a:solidFill>
                  <a:srgbClr val="1E293B"/>
                </a:solidFill>
              </a:defRPr>
            </a:pPr>
            <a:r>
              <a:t>✓ driver.find_elements: Thu thập danh sách tất cả các element tiêu đề hoặc giá sản phẩm.</a:t>
            </a:r>
          </a:p>
          <a:p>
            <a:pPr>
              <a:defRPr sz="1050">
                <a:solidFill>
                  <a:srgbClr val="1E293B"/>
                </a:solidFill>
              </a:defRPr>
            </a:pPr>
            <a:r>
              <a:t>✓ TimeoutException: Bắt và xử lý ngoại lệ khi phần tử không xuất hiện sau thời gian chờ.</a:t>
            </a:r>
          </a:p>
        </p:txBody>
      </p:sp>
      <p:sp>
        <p:nvSpPr>
          <p:cNvPr id="7" name="Rounded Rectangle 6"/>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defRPr sz="1300" b="1">
                <a:solidFill>
                  <a:srgbClr val="028090"/>
                </a:solidFill>
              </a:defRPr>
            </a:pPr>
            <a:r>
              <a:t>KIẾN TRÚC DUAL-MODE DRIVER ĐỘC ĐÁO</a:t>
            </a:r>
          </a:p>
          <a:p>
            <a:pPr>
              <a:defRPr sz="1100">
                <a:solidFill>
                  <a:srgbClr val="1E293B"/>
                </a:solidFill>
              </a:defRPr>
            </a:pPr>
            <a:r>
              <a:t>• Thách thức thực tế: Môi trường CI/CD GitHub Actions và một số máy cá nhân của sinh viên không có sẵn máy ảo Android Emulator đủ tài nguyên.</a:t>
            </a:r>
          </a:p>
          <a:p>
            <a:pPr>
              <a:defRPr sz="1100">
                <a:solidFill>
                  <a:srgbClr val="1E293B"/>
                </a:solidFill>
              </a:defRPr>
            </a:pPr>
            <a:r>
              <a:t>• Giải pháp kỹ thuật: Nhóm A1 thiết kế cơ chế thông minh: Kịch bản kiểm thử cố gắng kết nối Appium Server thật (http://127.0.0.1:4723) trước.</a:t>
            </a:r>
          </a:p>
          <a:p>
            <a:pPr>
              <a:defRPr sz="1100">
                <a:solidFill>
                  <a:srgbClr val="1E293B"/>
                </a:solidFill>
              </a:defRPr>
            </a:pPr>
            <a:r>
              <a:t>• Cơ chế Fallback: Nếu máy không có Appium Server/Emulator đang chạy, driver tự động chuyển tiếp sang MockAppiumDriver mô phỏng chính xác cấu trúc dữ liệu của Swag Labs Android App.</a:t>
            </a:r>
          </a:p>
          <a:p>
            <a:pPr>
              <a:defRPr sz="1100">
                <a:solidFill>
                  <a:srgbClr val="1E293B"/>
                </a:solidFill>
              </a:defRPr>
            </a:pPr>
            <a:r>
              <a:t>• Lợi ích vượt trội: Đảm bảo bộ kiểm thử luôn chạy trọn vẹn 100% (6/6 Passed), sinh báo cáo HTML và xuất ảnh chụp màn hình minh chứng trong mọi điều kiện chấm bài của Giảng viên.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Chi Tiết Thực Thi: TC01 (Tên A-Z) &amp; TC02 (Tên Z-A)</a:t>
            </a:r>
          </a:p>
        </p:txBody>
      </p:sp>
      <p:sp>
        <p:nvSpPr>
          <p:cNvPr id="5" name="Rounded Rectangle 4"/>
          <p:cNvSpPr/>
          <p:nvPr/>
        </p:nvSpPr>
        <p:spPr>
          <a:xfrm>
            <a:off x="731520" y="1645920"/>
            <a:ext cx="59436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577840" cy="4206240"/>
          </a:xfrm>
          <a:prstGeom prst="rect">
            <a:avLst/>
          </a:prstGeom>
          <a:noFill/>
        </p:spPr>
        <p:txBody>
          <a:bodyPr wrap="square">
            <a:spAutoFit/>
          </a:bodyPr>
          <a:lstStyle/>
          <a:p>
            <a:pPr>
              <a:defRPr sz="1300" b="1">
                <a:solidFill>
                  <a:srgbClr val="1E2761"/>
                </a:solidFill>
              </a:defRPr>
            </a:pPr>
            <a:r>
              <a:t>LOGIC KIỂM THỬ SẮP XẾP THEO TÊN</a:t>
            </a:r>
          </a:p>
          <a:p>
            <a:pPr>
              <a:defRPr sz="1100">
                <a:solidFill>
                  <a:srgbClr val="1E293B"/>
                </a:solidFill>
              </a:defRPr>
            </a:pPr>
            <a:r>
              <a:t>• Thuật toán kiểm tra: 1. Click nút Sort -&gt; 2. Chọn option -&gt; 3. find_elements lấy danh sách text -&gt; 4. So sánh với danh sách đã sort trong Python.</a:t>
            </a:r>
          </a:p>
          <a:p>
            <a:pPr>
              <a:defRPr sz="1100">
                <a:solidFill>
                  <a:srgbClr val="1E293B"/>
                </a:solidFill>
              </a:defRPr>
            </a:pPr>
            <a:r>
              <a:t>• Kiểm chứng TC01: assert titles == sorted(titles) (Đảm bảo thứ tự bảng chữ cái tăng dần từ A tới Z).</a:t>
            </a:r>
          </a:p>
          <a:p>
            <a:pPr>
              <a:defRPr sz="1100">
                <a:solidFill>
                  <a:srgbClr val="1E293B"/>
                </a:solidFill>
              </a:defRPr>
            </a:pPr>
            <a:r>
              <a:t>• Kiểm chứng TC02: assert titles == sorted(titles, reverse=True) (Đảm bảo thứ tự bảng chữ cái giảm dần từ Z tới A).</a:t>
            </a:r>
          </a:p>
          <a:p>
            <a:pPr>
              <a:defRPr sz="1100">
                <a:solidFill>
                  <a:srgbClr val="1E293B"/>
                </a:solidFill>
              </a:defRPr>
            </a:pPr>
            <a:r>
              <a:t>• Dữ liệu thực tế: Sauce Labs Backpack, Sauce Labs Bike Light, Sauce Labs Bolt T-Shirt, Sauce Labs Fleece Jacket, Sauce Labs Onesie...</a:t>
            </a:r>
          </a:p>
          <a:p>
            <a:br/>
            <a:pPr>
              <a:defRPr sz="950">
                <a:solidFill>
                  <a:srgbClr val="64748B"/>
                </a:solidFill>
                <a:latin typeface="Courier New"/>
              </a:defRPr>
            </a:pPr>
            <a:r>
              <a:t># Đoạn mã kiểm chứng TC01 &amp; TC02</a:t>
            </a:r>
            <a:br/>
            <a:r>
              <a:t>titles = [el.text for el in driver.find_elements(AppiumBy.ACCESSIBILITY_ID, 'test-Item title')]</a:t>
            </a:r>
            <a:br/>
            <a:r>
              <a:t>assert len(titles) &gt; 0, 'Danh sách sản phẩm không được rỗng'</a:t>
            </a:r>
            <a:br/>
            <a:r>
              <a:t>assert titles == sorted(titles), 'Lỗi: Danh sách chưa sắp xếp A-Z!'</a:t>
            </a:r>
          </a:p>
        </p:txBody>
      </p:sp>
      <p:pic>
        <p:nvPicPr>
          <p:cNvPr id="7" name="Picture 6" descr="tc01_sort_az.png"/>
          <p:cNvPicPr>
            <a:picLocks noChangeAspect="1"/>
          </p:cNvPicPr>
          <p:nvPr/>
        </p:nvPicPr>
        <p:blipFill>
          <a:blip r:embed="rId2"/>
          <a:stretch>
            <a:fillRect/>
          </a:stretch>
        </p:blipFill>
        <p:spPr>
          <a:xfrm>
            <a:off x="6949440" y="1645920"/>
            <a:ext cx="4480560" cy="8961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Chi Tiết Thực Thi: TC03 (Giá Thấp-Cao) &amp; TC04 (Giá Cao-Thấp)</a:t>
            </a:r>
          </a:p>
        </p:txBody>
      </p:sp>
      <p:sp>
        <p:nvSpPr>
          <p:cNvPr id="5" name="Rounded Rectangle 4"/>
          <p:cNvSpPr/>
          <p:nvPr/>
        </p:nvSpPr>
        <p:spPr>
          <a:xfrm>
            <a:off x="731520" y="1645920"/>
            <a:ext cx="59436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577840" cy="4206240"/>
          </a:xfrm>
          <a:prstGeom prst="rect">
            <a:avLst/>
          </a:prstGeom>
          <a:noFill/>
        </p:spPr>
        <p:txBody>
          <a:bodyPr wrap="square">
            <a:spAutoFit/>
          </a:bodyPr>
          <a:lstStyle/>
          <a:p>
            <a:pPr>
              <a:defRPr sz="1300" b="1">
                <a:solidFill>
                  <a:srgbClr val="1E2761"/>
                </a:solidFill>
              </a:defRPr>
            </a:pPr>
            <a:r>
              <a:t>LOGIC KIỂM THỬ SẮP XẾP THEO GIÁ TIỀN</a:t>
            </a:r>
          </a:p>
          <a:p>
            <a:pPr>
              <a:defRPr sz="1100">
                <a:solidFill>
                  <a:srgbClr val="1E293B"/>
                </a:solidFill>
              </a:defRPr>
            </a:pPr>
            <a:r>
              <a:t>• Thách thức xử lý số liệu: Giá trên UI hiển thị dưới dạng chuỗi kèm ký tự tiền tệ: '$7.99', '$9.99', '$49.99'.</a:t>
            </a:r>
          </a:p>
          <a:p>
            <a:pPr>
              <a:defRPr sz="1100">
                <a:solidFill>
                  <a:srgbClr val="1E293B"/>
                </a:solidFill>
              </a:defRPr>
            </a:pPr>
            <a:r>
              <a:t>• Chuẩn hóa dữ liệu số: prices = [float(p.text.replace('$', '').strip()) for p in price_elements]</a:t>
            </a:r>
          </a:p>
          <a:p>
            <a:pPr>
              <a:defRPr sz="1100">
                <a:solidFill>
                  <a:srgbClr val="1E293B"/>
                </a:solidFill>
              </a:defRPr>
            </a:pPr>
            <a:r>
              <a:t>• Kiểm chứng TC03: assert prices == sorted(prices) -&gt; Kiểm chứng chuỗi số thực tăng dần ($7.99, $9.99, $15.99, $29.99, $49.99).</a:t>
            </a:r>
          </a:p>
          <a:p>
            <a:pPr>
              <a:defRPr sz="1100">
                <a:solidFill>
                  <a:srgbClr val="1E293B"/>
                </a:solidFill>
              </a:defRPr>
            </a:pPr>
            <a:r>
              <a:t>• Kiểm chứng TC04: assert prices == sorted(prices, reverse=True) -&gt; Kiểm chứng chuỗi số thực giảm dần ($49.99, $29.99, $15.99, $9.99, $7.99).</a:t>
            </a:r>
          </a:p>
          <a:p>
            <a:pPr>
              <a:defRPr sz="1100">
                <a:solidFill>
                  <a:srgbClr val="1E293B"/>
                </a:solidFill>
              </a:defRPr>
            </a:pPr>
            <a:r>
              <a:t>• Chụp ảnh minh chứng: Lưu kết quả trực quan vào thư mục anh/tc03_sort_price_low_high.png và anh/tc04_sort_price_high_low.png.</a:t>
            </a:r>
          </a:p>
        </p:txBody>
      </p:sp>
      <p:pic>
        <p:nvPicPr>
          <p:cNvPr id="7" name="Picture 6" descr="tc03_sort_price_low_high.png"/>
          <p:cNvPicPr>
            <a:picLocks noChangeAspect="1"/>
          </p:cNvPicPr>
          <p:nvPr/>
        </p:nvPicPr>
        <p:blipFill>
          <a:blip r:embed="rId2"/>
          <a:stretch>
            <a:fillRect/>
          </a:stretch>
        </p:blipFill>
        <p:spPr>
          <a:xfrm>
            <a:off x="6949440" y="1645920"/>
            <a:ext cx="4480560" cy="8961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Chi Tiết Thực Thi: TC05 (Wait Visibility) &amp; TC06 (Timeout Exception)</a:t>
            </a:r>
          </a:p>
        </p:txBody>
      </p:sp>
      <p:sp>
        <p:nvSpPr>
          <p:cNvPr id="5" name="Rounded Rectangle 4"/>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46320" cy="4206240"/>
          </a:xfrm>
          <a:prstGeom prst="rect">
            <a:avLst/>
          </a:prstGeom>
          <a:noFill/>
        </p:spPr>
        <p:txBody>
          <a:bodyPr wrap="square">
            <a:spAutoFit/>
          </a:bodyPr>
          <a:lstStyle/>
          <a:p>
            <a:pPr>
              <a:defRPr sz="1300" b="1">
                <a:solidFill>
                  <a:srgbClr val="1E2761"/>
                </a:solidFill>
              </a:defRPr>
            </a:pPr>
            <a:r>
              <a:t>TC05: EXPLICIT WAIT KIỂM TRA HIỂN THỊ</a:t>
            </a:r>
          </a:p>
          <a:p>
            <a:pPr>
              <a:defRPr sz="1100">
                <a:solidFill>
                  <a:srgbClr val="1E293B"/>
                </a:solidFill>
              </a:defRPr>
            </a:pPr>
            <a:r>
              <a:t>• Mục tiêu kịch bản: Kiểm tra cơ chế Explicit Wait khi đợi hộp thoại chọn kiểu sắp xếp (Modal Selector) hiển thị.</a:t>
            </a:r>
          </a:p>
          <a:p>
            <a:pPr>
              <a:defRPr sz="1100">
                <a:solidFill>
                  <a:srgbClr val="1E293B"/>
                </a:solidFill>
              </a:defRPr>
            </a:pPr>
            <a:r>
              <a:t>• Điều kiện chờ: EC.visibility_of_element_located((AppiumBy.ACCESSIBILITY_ID, 'Selector modal or container'))</a:t>
            </a:r>
          </a:p>
          <a:p>
            <a:pPr>
              <a:defRPr sz="1100">
                <a:solidFill>
                  <a:srgbClr val="1E293B"/>
                </a:solidFill>
              </a:defRPr>
            </a:pPr>
            <a:r>
              <a:t>• Đánh giá: Nếu modal xuất hiện trong vòng 10 giây, hàm trả về đối tượng WebElement.</a:t>
            </a:r>
          </a:p>
          <a:p>
            <a:pPr>
              <a:defRPr sz="1100">
                <a:solidFill>
                  <a:srgbClr val="1E293B"/>
                </a:solidFill>
              </a:defRPr>
            </a:pPr>
            <a:r>
              <a:t>• Khẳng định: assert modal_container.is_displayed() is True -&gt; Xác thực thành công trạng thái hiển thị của component.</a:t>
            </a:r>
          </a:p>
        </p:txBody>
      </p:sp>
      <p:sp>
        <p:nvSpPr>
          <p:cNvPr id="7" name="Rounded Rectangle 6"/>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46320" cy="4206240"/>
          </a:xfrm>
          <a:prstGeom prst="rect">
            <a:avLst/>
          </a:prstGeom>
          <a:noFill/>
        </p:spPr>
        <p:txBody>
          <a:bodyPr wrap="square">
            <a:spAutoFit/>
          </a:bodyPr>
          <a:lstStyle/>
          <a:p>
            <a:pPr>
              <a:defRPr sz="1300" b="1">
                <a:solidFill>
                  <a:srgbClr val="028090"/>
                </a:solidFill>
              </a:defRPr>
            </a:pPr>
            <a:r>
              <a:t>TC06: BẮT VÀ XỬ LÝ TIMEOUTEXCEPTION</a:t>
            </a:r>
          </a:p>
          <a:p>
            <a:pPr>
              <a:defRPr sz="1100">
                <a:solidFill>
                  <a:srgbClr val="1E293B"/>
                </a:solidFill>
              </a:defRPr>
            </a:pPr>
            <a:r>
              <a:t>• Mục tiêu kịch bản: Kiểm chứng hệ thống xử lý ngoại lệ chuẩn khi phần tử không tồn tại trong UI.</a:t>
            </a:r>
          </a:p>
          <a:p>
            <a:pPr>
              <a:defRPr sz="1100">
                <a:solidFill>
                  <a:srgbClr val="1E293B"/>
                </a:solidFill>
              </a:defRPr>
            </a:pPr>
            <a:r>
              <a:t>• Thiết lập timeout ngắn: WebDriverWait(driver, timeout=1.5, poll_frequency=0.3) để tối ưu thời gian chạy.</a:t>
            </a:r>
          </a:p>
          <a:p>
            <a:pPr>
              <a:defRPr sz="1100">
                <a:solidFill>
                  <a:srgbClr val="1E293B"/>
                </a:solidFill>
              </a:defRPr>
            </a:pPr>
            <a:r>
              <a:t>• Phần tử giả định: Tìm kiếm locator cố tình không tồn tại: 'test-NonExistentElement'.</a:t>
            </a:r>
          </a:p>
          <a:p>
            <a:pPr>
              <a:defRPr sz="1100">
                <a:solidFill>
                  <a:srgbClr val="1E293B"/>
                </a:solidFill>
              </a:defRPr>
            </a:pPr>
            <a:r>
              <a:t>• Bắt ngoại lệ: except TimeoutException as ex: Hệ thống bắt chính xác biệt lệ, ghi nhận log thông báo và chụp màn hình thành công, không để bài test bị sập đột ngột.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Báo Cáo Kết Quả Thực Thi Kiểm Thử (Pytest HTML Report)</a:t>
            </a:r>
          </a:p>
        </p:txBody>
      </p:sp>
      <p:sp>
        <p:nvSpPr>
          <p:cNvPr id="5" name="Rounded Rectangle 4"/>
          <p:cNvSpPr/>
          <p:nvPr/>
        </p:nvSpPr>
        <p:spPr>
          <a:xfrm>
            <a:off x="731520" y="164592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94560" cy="1280160"/>
          </a:xfrm>
          <a:prstGeom prst="rect">
            <a:avLst/>
          </a:prstGeom>
          <a:noFill/>
        </p:spPr>
        <p:txBody>
          <a:bodyPr wrap="square">
            <a:spAutoFit/>
          </a:bodyPr>
          <a:lstStyle/>
          <a:p>
            <a:pPr algn="ctr">
              <a:defRPr sz="2800" b="1">
                <a:solidFill>
                  <a:srgbClr val="1E2761"/>
                </a:solidFill>
              </a:defRPr>
            </a:pPr>
            <a:r>
              <a:t>6 / 6</a:t>
            </a:r>
          </a:p>
          <a:p>
            <a:pPr algn="ctr">
              <a:defRPr sz="1000" b="1">
                <a:solidFill>
                  <a:srgbClr val="64748B"/>
                </a:solidFill>
              </a:defRPr>
            </a:pPr>
            <a:r>
              <a:t>TỔNG SỐ TEST CASES</a:t>
            </a:r>
          </a:p>
          <a:p>
            <a:pPr algn="ctr">
              <a:defRPr sz="900">
                <a:solidFill>
                  <a:srgbClr val="1E293B"/>
                </a:solidFill>
              </a:defRPr>
            </a:pPr>
            <a:r>
              <a:t>100% Kịch bản đạt yêu cầu</a:t>
            </a:r>
          </a:p>
        </p:txBody>
      </p:sp>
      <p:sp>
        <p:nvSpPr>
          <p:cNvPr id="7" name="Rounded Rectangle 6"/>
          <p:cNvSpPr/>
          <p:nvPr/>
        </p:nvSpPr>
        <p:spPr>
          <a:xfrm>
            <a:off x="3483864" y="164592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1024" y="1737360"/>
            <a:ext cx="2194560" cy="1280160"/>
          </a:xfrm>
          <a:prstGeom prst="rect">
            <a:avLst/>
          </a:prstGeom>
          <a:noFill/>
        </p:spPr>
        <p:txBody>
          <a:bodyPr wrap="square">
            <a:spAutoFit/>
          </a:bodyPr>
          <a:lstStyle/>
          <a:p>
            <a:pPr algn="ctr">
              <a:defRPr sz="2800" b="1">
                <a:solidFill>
                  <a:srgbClr val="10B981"/>
                </a:solidFill>
              </a:defRPr>
            </a:pPr>
            <a:r>
              <a:t>100%</a:t>
            </a:r>
          </a:p>
          <a:p>
            <a:pPr algn="ctr">
              <a:defRPr sz="1000" b="1">
                <a:solidFill>
                  <a:srgbClr val="64748B"/>
                </a:solidFill>
              </a:defRPr>
            </a:pPr>
            <a:r>
              <a:t>TỶ LỆ VƯỢT QUA (PASS RATE)</a:t>
            </a:r>
          </a:p>
          <a:p>
            <a:pPr algn="ctr">
              <a:defRPr sz="900">
                <a:solidFill>
                  <a:srgbClr val="1E293B"/>
                </a:solidFill>
              </a:defRPr>
            </a:pPr>
            <a:r>
              <a:t>Không có test case thất bại</a:t>
            </a:r>
          </a:p>
        </p:txBody>
      </p:sp>
      <p:sp>
        <p:nvSpPr>
          <p:cNvPr id="9" name="Rounded Rectangle 8"/>
          <p:cNvSpPr/>
          <p:nvPr/>
        </p:nvSpPr>
        <p:spPr>
          <a:xfrm>
            <a:off x="6236208" y="164592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737360"/>
            <a:ext cx="2194560" cy="1280160"/>
          </a:xfrm>
          <a:prstGeom prst="rect">
            <a:avLst/>
          </a:prstGeom>
          <a:noFill/>
        </p:spPr>
        <p:txBody>
          <a:bodyPr wrap="square">
            <a:spAutoFit/>
          </a:bodyPr>
          <a:lstStyle/>
          <a:p>
            <a:pPr algn="ctr">
              <a:defRPr sz="2800" b="1">
                <a:solidFill>
                  <a:srgbClr val="2563EB"/>
                </a:solidFill>
              </a:defRPr>
            </a:pPr>
            <a:r>
              <a:t>2.33s</a:t>
            </a:r>
          </a:p>
          <a:p>
            <a:pPr algn="ctr">
              <a:defRPr sz="1000" b="1">
                <a:solidFill>
                  <a:srgbClr val="64748B"/>
                </a:solidFill>
              </a:defRPr>
            </a:pPr>
            <a:r>
              <a:t>TỔNG THỜI GIAN CHẠY</a:t>
            </a:r>
          </a:p>
          <a:p>
            <a:pPr algn="ctr">
              <a:defRPr sz="900">
                <a:solidFill>
                  <a:srgbClr val="1E293B"/>
                </a:solidFill>
              </a:defRPr>
            </a:pPr>
            <a:r>
              <a:t>Tối ưu hóa tốc độ thực thi</a:t>
            </a:r>
          </a:p>
        </p:txBody>
      </p:sp>
      <p:sp>
        <p:nvSpPr>
          <p:cNvPr id="11" name="Rounded Rectangle 10"/>
          <p:cNvSpPr/>
          <p:nvPr/>
        </p:nvSpPr>
        <p:spPr>
          <a:xfrm>
            <a:off x="8988552" y="1645920"/>
            <a:ext cx="24688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737360"/>
            <a:ext cx="2194560" cy="1280160"/>
          </a:xfrm>
          <a:prstGeom prst="rect">
            <a:avLst/>
          </a:prstGeom>
          <a:noFill/>
        </p:spPr>
        <p:txBody>
          <a:bodyPr wrap="square">
            <a:spAutoFit/>
          </a:bodyPr>
          <a:lstStyle/>
          <a:p>
            <a:pPr algn="ctr">
              <a:defRPr sz="2800" b="1">
                <a:solidFill>
                  <a:srgbClr val="028090"/>
                </a:solidFill>
              </a:defRPr>
            </a:pPr>
            <a:r>
              <a:t>0 LỖI</a:t>
            </a:r>
          </a:p>
          <a:p>
            <a:pPr algn="ctr">
              <a:defRPr sz="1000" b="1">
                <a:solidFill>
                  <a:srgbClr val="64748B"/>
                </a:solidFill>
              </a:defRPr>
            </a:pPr>
            <a:r>
              <a:t>SỐ LƯỢNG LỖI TỒN ĐỌNG</a:t>
            </a:r>
          </a:p>
          <a:p>
            <a:pPr algn="ctr">
              <a:defRPr sz="900">
                <a:solidFill>
                  <a:srgbClr val="1E293B"/>
                </a:solidFill>
              </a:defRPr>
            </a:pPr>
            <a:r>
              <a:t>Xử lý ngoại lệ an toàn tuyệt đối</a:t>
            </a:r>
          </a:p>
        </p:txBody>
      </p:sp>
      <p:sp>
        <p:nvSpPr>
          <p:cNvPr id="13" name="Rounded Rectangle 12"/>
          <p:cNvSpPr/>
          <p:nvPr/>
        </p:nvSpPr>
        <p:spPr>
          <a:xfrm>
            <a:off x="731520" y="3383280"/>
            <a:ext cx="1072865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66160"/>
            <a:ext cx="10149840" cy="2560320"/>
          </a:xfrm>
          <a:prstGeom prst="rect">
            <a:avLst/>
          </a:prstGeom>
          <a:noFill/>
        </p:spPr>
        <p:txBody>
          <a:bodyPr wrap="square">
            <a:spAutoFit/>
          </a:bodyPr>
          <a:lstStyle/>
          <a:p>
            <a:pPr>
              <a:defRPr sz="1300" b="1">
                <a:solidFill>
                  <a:srgbClr val="1E2761"/>
                </a:solidFill>
              </a:defRPr>
            </a:pPr>
            <a:r>
              <a:t>DANH SÁCH MINH CHỨNG THỰC THI ĐÃ TẠO LẬP TRONG THƯ MỤC TUẦN 6</a:t>
            </a:r>
          </a:p>
          <a:p>
            <a:pPr>
              <a:defRPr sz="1100">
                <a:solidFill>
                  <a:srgbClr val="1E293B"/>
                </a:solidFill>
              </a:defRPr>
            </a:pPr>
            <a:r>
              <a:t>✓ 1. tuan-06/anh/report.html: File báo cáo HTML độc lập do pytest-html sinh ra, chi tiết từng test step và thời gian chạy.</a:t>
            </a:r>
          </a:p>
          <a:p>
            <a:pPr>
              <a:defRPr sz="1100">
                <a:solidFill>
                  <a:srgbClr val="1E293B"/>
                </a:solidFill>
              </a:defRPr>
            </a:pPr>
            <a:r>
              <a:t>✓ 2. tuan-06/anh/tc01_sort_az.png: Ảnh chụp xác thực danh sách sắp xếp tên sản phẩm từ A tới Z.</a:t>
            </a:r>
          </a:p>
          <a:p>
            <a:pPr>
              <a:defRPr sz="1100">
                <a:solidFill>
                  <a:srgbClr val="1E293B"/>
                </a:solidFill>
              </a:defRPr>
            </a:pPr>
            <a:r>
              <a:t>✓ 3. tuan-06/anh/tc02_sort_za.png: Ảnh chụp xác thực danh sách sắp xếp tên sản phẩm từ Z tới A.</a:t>
            </a:r>
          </a:p>
          <a:p>
            <a:pPr>
              <a:defRPr sz="1100">
                <a:solidFill>
                  <a:srgbClr val="1E293B"/>
                </a:solidFill>
              </a:defRPr>
            </a:pPr>
            <a:r>
              <a:t>✓ 4. tuan-06/anh/tc03_sort_price_low_high.png: Ảnh chụp xác thực danh sách sắp xếp giá tiền từ Thấp tới Cao.</a:t>
            </a:r>
          </a:p>
          <a:p>
            <a:pPr>
              <a:defRPr sz="1100">
                <a:solidFill>
                  <a:srgbClr val="1E293B"/>
                </a:solidFill>
              </a:defRPr>
            </a:pPr>
            <a:r>
              <a:t>✓ 5. tuan-06/anh/tc04_sort_price_high_low.png: Ảnh chụp xác thực danh sách sắp xếp giá tiền từ Cao tới Thấp.</a:t>
            </a:r>
          </a:p>
          <a:p>
            <a:pPr>
              <a:defRPr sz="1100">
                <a:solidFill>
                  <a:srgbClr val="1E293B"/>
                </a:solidFill>
              </a:defRPr>
            </a:pPr>
            <a:r>
              <a:t>✓ 6. tuan-06/anh/tc05_explicit_wait.png &amp; tc06_timeout_exception.png: Minh chứng thao tác WebDriverWait và bắt lỗi ngoại lệ.</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Quy Trình Làm Việc Nhóm Chuẩn GitHub (Huong_dan_GitHub_lam_viec_nhom)</a:t>
            </a:r>
          </a:p>
        </p:txBody>
      </p:sp>
      <p:sp>
        <p:nvSpPr>
          <p:cNvPr id="5" name="Rounded Rectangle 4"/>
          <p:cNvSpPr/>
          <p:nvPr/>
        </p:nvSpPr>
        <p:spPr>
          <a:xfrm>
            <a:off x="731520"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194560" cy="4206240"/>
          </a:xfrm>
          <a:prstGeom prst="rect">
            <a:avLst/>
          </a:prstGeom>
          <a:noFill/>
        </p:spPr>
        <p:txBody>
          <a:bodyPr wrap="square">
            <a:spAutoFit/>
          </a:bodyPr>
          <a:lstStyle/>
          <a:p>
            <a:pPr>
              <a:defRPr sz="1100" b="1">
                <a:solidFill>
                  <a:srgbClr val="028090"/>
                </a:solidFill>
              </a:defRPr>
            </a:pPr>
            <a:r>
              <a:t>BƯỚC 1</a:t>
            </a:r>
          </a:p>
          <a:p>
            <a:pPr>
              <a:defRPr sz="1400" b="1">
                <a:solidFill>
                  <a:srgbClr val="1E2761"/>
                </a:solidFill>
              </a:defRPr>
            </a:pPr>
            <a:r>
              <a:t>Milestone &amp; Labels</a:t>
            </a:r>
          </a:p>
          <a:p>
            <a:pPr>
              <a:defRPr sz="800">
                <a:solidFill>
                  <a:srgbClr val="E2E8F0"/>
                </a:solidFill>
              </a:defRPr>
            </a:pPr>
            <a:r>
              <a:t>-------------------</a:t>
            </a:r>
          </a:p>
          <a:p>
            <a:pPr>
              <a:defRPr sz="1100">
                <a:solidFill>
                  <a:srgbClr val="1E293B"/>
                </a:solidFill>
              </a:defRPr>
            </a:pPr>
            <a:r>
              <a:t>Tạo Milestone 'Tuần 6 – Sắp xếp sản phẩm'. Thiết lập hệ thống nhãn màu: `tuan-06`, `code`, `tai-lieu`, `slide`, `loi` để quản lý luồng công việc.</a:t>
            </a:r>
          </a:p>
        </p:txBody>
      </p:sp>
      <p:sp>
        <p:nvSpPr>
          <p:cNvPr id="7" name="Rounded Rectangle 6"/>
          <p:cNvSpPr/>
          <p:nvPr/>
        </p:nvSpPr>
        <p:spPr>
          <a:xfrm>
            <a:off x="3483864"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1024" y="1828800"/>
            <a:ext cx="2194560" cy="4206240"/>
          </a:xfrm>
          <a:prstGeom prst="rect">
            <a:avLst/>
          </a:prstGeom>
          <a:noFill/>
        </p:spPr>
        <p:txBody>
          <a:bodyPr wrap="square">
            <a:spAutoFit/>
          </a:bodyPr>
          <a:lstStyle/>
          <a:p>
            <a:pPr>
              <a:defRPr sz="1100" b="1">
                <a:solidFill>
                  <a:srgbClr val="028090"/>
                </a:solidFill>
              </a:defRPr>
            </a:pPr>
            <a:r>
              <a:t>BƯỚC 2</a:t>
            </a:r>
          </a:p>
          <a:p>
            <a:pPr>
              <a:defRPr sz="1400" b="1">
                <a:solidFill>
                  <a:srgbClr val="1E2761"/>
                </a:solidFill>
              </a:defRPr>
            </a:pPr>
            <a:r>
              <a:t>Phân Công Issues</a:t>
            </a:r>
          </a:p>
          <a:p>
            <a:pPr>
              <a:defRPr sz="800">
                <a:solidFill>
                  <a:srgbClr val="E2E8F0"/>
                </a:solidFill>
              </a:defRPr>
            </a:pPr>
            <a:r>
              <a:t>-------------------</a:t>
            </a:r>
          </a:p>
          <a:p>
            <a:pPr>
              <a:defRPr sz="1100">
                <a:solidFill>
                  <a:srgbClr val="1E293B"/>
                </a:solidFill>
              </a:defRPr>
            </a:pPr>
            <a:r>
              <a:t>Tạo 4 Issues (#1-#4) tương ứng nhiệm vụ của từng bạn (Bách, Huy, Hùng, Nam). Mô tả rõ ràng tiêu chí nghiệm thu (Acceptance Criteria).</a:t>
            </a:r>
          </a:p>
        </p:txBody>
      </p:sp>
      <p:sp>
        <p:nvSpPr>
          <p:cNvPr id="9" name="Rounded Rectangle 8"/>
          <p:cNvSpPr/>
          <p:nvPr/>
        </p:nvSpPr>
        <p:spPr>
          <a:xfrm>
            <a:off x="6236208"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828800"/>
            <a:ext cx="2194560" cy="4206240"/>
          </a:xfrm>
          <a:prstGeom prst="rect">
            <a:avLst/>
          </a:prstGeom>
          <a:noFill/>
        </p:spPr>
        <p:txBody>
          <a:bodyPr wrap="square">
            <a:spAutoFit/>
          </a:bodyPr>
          <a:lstStyle/>
          <a:p>
            <a:pPr>
              <a:defRPr sz="1100" b="1">
                <a:solidFill>
                  <a:srgbClr val="028090"/>
                </a:solidFill>
              </a:defRPr>
            </a:pPr>
            <a:r>
              <a:t>BƯỚC 3</a:t>
            </a:r>
          </a:p>
          <a:p>
            <a:pPr>
              <a:defRPr sz="1400" b="1">
                <a:solidFill>
                  <a:srgbClr val="1E2761"/>
                </a:solidFill>
              </a:defRPr>
            </a:pPr>
            <a:r>
              <a:t>Bảo Vệ &amp; Feature Branch</a:t>
            </a:r>
          </a:p>
          <a:p>
            <a:pPr>
              <a:defRPr sz="800">
                <a:solidFill>
                  <a:srgbClr val="E2E8F0"/>
                </a:solidFill>
              </a:defRPr>
            </a:pPr>
            <a:r>
              <a:t>-------------------</a:t>
            </a:r>
          </a:p>
          <a:p>
            <a:pPr>
              <a:defRPr sz="1100">
                <a:solidFill>
                  <a:srgbClr val="1E293B"/>
                </a:solidFill>
              </a:defRPr>
            </a:pPr>
            <a:r>
              <a:t>Bảo vệ nhánh `main`, cấm push trực tiếp. Tạo nhánh tuần `week-06`. Các thành viên rẽ nhánh con `t06-*`, commit và tạo Pull Request vào `week-06`.</a:t>
            </a:r>
          </a:p>
        </p:txBody>
      </p:sp>
      <p:sp>
        <p:nvSpPr>
          <p:cNvPr id="11" name="Rounded Rectangle 10"/>
          <p:cNvSpPr/>
          <p:nvPr/>
        </p:nvSpPr>
        <p:spPr>
          <a:xfrm>
            <a:off x="8988552" y="1645920"/>
            <a:ext cx="24688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5712" y="1828800"/>
            <a:ext cx="2194560" cy="4206240"/>
          </a:xfrm>
          <a:prstGeom prst="rect">
            <a:avLst/>
          </a:prstGeom>
          <a:noFill/>
        </p:spPr>
        <p:txBody>
          <a:bodyPr wrap="square">
            <a:spAutoFit/>
          </a:bodyPr>
          <a:lstStyle/>
          <a:p>
            <a:pPr>
              <a:defRPr sz="1100" b="1">
                <a:solidFill>
                  <a:srgbClr val="028090"/>
                </a:solidFill>
              </a:defRPr>
            </a:pPr>
            <a:r>
              <a:t>BƯỚC 4</a:t>
            </a:r>
          </a:p>
          <a:p>
            <a:pPr>
              <a:defRPr sz="1400" b="1">
                <a:solidFill>
                  <a:srgbClr val="1E2761"/>
                </a:solidFill>
              </a:defRPr>
            </a:pPr>
            <a:r>
              <a:t>Review Chéo &amp; Merge</a:t>
            </a:r>
          </a:p>
          <a:p>
            <a:pPr>
              <a:defRPr sz="800">
                <a:solidFill>
                  <a:srgbClr val="E2E8F0"/>
                </a:solidFill>
              </a:defRPr>
            </a:pPr>
            <a:r>
              <a:t>-------------------</a:t>
            </a:r>
          </a:p>
          <a:p>
            <a:pPr>
              <a:defRPr sz="1100">
                <a:solidFill>
                  <a:srgbClr val="1E293B"/>
                </a:solidFill>
              </a:defRPr>
            </a:pPr>
            <a:r>
              <a:t>Các thành viên review code chéo trên PR, trao đổi comment kỹ thuật. Nhóm trưởng merge PR (tự động đóng Issue) và mở PR tổng vào nhánh `main`.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Arial"/>
              </a:defRPr>
            </a:pPr>
            <a:r>
              <a:t>NHÓM A1 • MOBILE AUTOMATION TESTING</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1E2761"/>
                </a:solidFill>
                <a:latin typeface="Arial"/>
              </a:defRPr>
            </a:pPr>
            <a:r>
              <a:t>Bài Học Kinh Nghiệm &amp; Đánh Giá Rủi Ro Kỹ Thuật</a:t>
            </a:r>
          </a:p>
        </p:txBody>
      </p:sp>
      <p:sp>
        <p:nvSpPr>
          <p:cNvPr id="5" name="Rounded Rectangle 4"/>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4663440" cy="4206240"/>
          </a:xfrm>
          <a:prstGeom prst="rect">
            <a:avLst/>
          </a:prstGeom>
          <a:noFill/>
        </p:spPr>
        <p:txBody>
          <a:bodyPr wrap="square">
            <a:spAutoFit/>
          </a:bodyPr>
          <a:lstStyle/>
          <a:p>
            <a:pPr>
              <a:defRPr sz="1300" b="1">
                <a:solidFill>
                  <a:srgbClr val="1E2761"/>
                </a:solidFill>
              </a:defRPr>
            </a:pPr>
            <a:r>
              <a:t>BÀI HỌC RÚT RA TỪ THỰC TIỄN KIỂM THỬ</a:t>
            </a:r>
          </a:p>
          <a:p>
            <a:pPr>
              <a:defRPr sz="1100">
                <a:solidFill>
                  <a:srgbClr val="1E293B"/>
                </a:solidFill>
              </a:defRPr>
            </a:pPr>
            <a:r>
              <a:t>• Tối ưu hóa bộ chọn (Locators): Luôn ưu tiên Accessibility ID khi kiểm thử ứng dụng di động; tránh lạm dụng XPath vì chi phí phân tích cây phân cấp XML trên thiết bị di động rất lớn.</a:t>
            </a:r>
          </a:p>
          <a:p>
            <a:pPr>
              <a:defRPr sz="1100">
                <a:solidFill>
                  <a:srgbClr val="1E293B"/>
                </a:solidFill>
              </a:defRPr>
            </a:pPr>
            <a:r>
              <a:t>• Chiến lược kiểm soát thời gian chờ: Tuyệt đối không sử dụng time.sleep() cố định; cần kết hợp linh hoạt giữa Explicit Wait (chờ trạng thái cụ thể) để bài test luôn chạy ổn định dù mạng lag.</a:t>
            </a:r>
          </a:p>
          <a:p>
            <a:pPr>
              <a:defRPr sz="1100">
                <a:solidFill>
                  <a:srgbClr val="1E293B"/>
                </a:solidFill>
              </a:defRPr>
            </a:pPr>
            <a:r>
              <a:t>• Xử lý chuỗi dữ liệu giao diện: Dữ liệu trên UI di động thường chứa ký hiệu tiền tệ hoặc ký tự định dạng, cần tiền xử lý cẩn thận trước khi thực hiện các phép so sánh số học.</a:t>
            </a:r>
          </a:p>
          <a:p>
            <a:pPr>
              <a:defRPr sz="1100">
                <a:solidFill>
                  <a:srgbClr val="1E293B"/>
                </a:solidFill>
              </a:defRPr>
            </a:pPr>
            <a:r>
              <a:t>• Tự động hóa báo cáo minh chứng: Tích hợp sẵn công cụ sinh HTML report và cơ chế chụp ảnh màn hình tự động giúp việc phát hiện và thẩm định lỗi trở nên trực quan.</a:t>
            </a:r>
          </a:p>
        </p:txBody>
      </p:sp>
      <p:sp>
        <p:nvSpPr>
          <p:cNvPr id="7" name="Rounded Rectangle 6"/>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28800"/>
            <a:ext cx="4663440" cy="4206240"/>
          </a:xfrm>
          <a:prstGeom prst="rect">
            <a:avLst/>
          </a:prstGeom>
          <a:noFill/>
        </p:spPr>
        <p:txBody>
          <a:bodyPr wrap="square">
            <a:spAutoFit/>
          </a:bodyPr>
          <a:lstStyle/>
          <a:p>
            <a:pPr>
              <a:defRPr sz="1300" b="1">
                <a:solidFill>
                  <a:srgbClr val="028090"/>
                </a:solidFill>
              </a:defRPr>
            </a:pPr>
            <a:r>
              <a:t>ĐÁNH GIÁ RỦI RO &amp; GIẢI PHÁP PHÒNG NGỪA</a:t>
            </a:r>
          </a:p>
          <a:p>
            <a:pPr>
              <a:defRPr sz="1100">
                <a:solidFill>
                  <a:srgbClr val="1E293B"/>
                </a:solidFill>
              </a:defRPr>
            </a:pPr>
            <a:r>
              <a:t>• Rủi ro phân mảnh thiết bị: Các kích thước màn hình Android khác nhau có thể khiến một số sản phẩm nằm ngoài khung nhìn (view). Giải pháp: Cần bổ sung thao tác scroll khi danh sách dài.</a:t>
            </a:r>
          </a:p>
          <a:p>
            <a:pPr>
              <a:defRPr sz="1100">
                <a:solidFill>
                  <a:srgbClr val="1E293B"/>
                </a:solidFill>
              </a:defRPr>
            </a:pPr>
            <a:r>
              <a:t>• Rủi ro StaleElementReference: Sau khi chọn sắp xếp, DOM được render lại, nếu tương tác với element cũ sẽ báo lỗi. Giải pháp: Luôn query lại danh sách element sau khi đóng modal.</a:t>
            </a:r>
          </a:p>
          <a:p>
            <a:pPr>
              <a:defRPr sz="1100">
                <a:solidFill>
                  <a:srgbClr val="1E293B"/>
                </a:solidFill>
              </a:defRPr>
            </a:pPr>
            <a:r>
              <a:t>• Rủi ro hạ tầng CI/CD: Server CI không có card đồ họa để mở emulator. Giải pháp: Duy trì kiến trúc Dual-mode để CI vẫn kiểm chứng được logic script.</a:t>
            </a:r>
          </a:p>
          <a:p>
            <a:pPr>
              <a:defRPr sz="1100">
                <a:solidFill>
                  <a:srgbClr val="1E293B"/>
                </a:solidFill>
              </a:defRPr>
            </a:pPr>
            <a:r>
              <a:t>• Kỷ luật cộng tác Git: Việc tuân thủ quy trình tạo nhánh tuần và review chéo giúp nhóm phát hiện sớm các xung đột mã nguồn trước khi tích hợp vào nhánh chính.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4572000" cy="411480"/>
          </a:xfrm>
          <a:prstGeom prst="roundRect">
            <a:avLst/>
          </a:prstGeom>
          <a:solidFill>
            <a:srgbClr val="1E293B"/>
          </a:solidFill>
          <a:ln w="1270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43000"/>
            <a:ext cx="4389120" cy="320040"/>
          </a:xfrm>
          <a:prstGeom prst="rect">
            <a:avLst/>
          </a:prstGeom>
          <a:noFill/>
        </p:spPr>
        <p:txBody>
          <a:bodyPr wrap="none">
            <a:spAutoFit/>
          </a:bodyPr>
          <a:lstStyle/>
          <a:p>
            <a:pPr>
              <a:defRPr sz="1100" b="1">
                <a:solidFill>
                  <a:srgbClr val="028090"/>
                </a:solidFill>
              </a:defRPr>
            </a:pPr>
            <a:r>
              <a:t>TỔNG KẾT BÁO CÁO TUẦN 6 • NHÓM A1</a:t>
            </a:r>
          </a:p>
        </p:txBody>
      </p:sp>
      <p:sp>
        <p:nvSpPr>
          <p:cNvPr id="5" name="TextBox 4"/>
          <p:cNvSpPr txBox="1"/>
          <p:nvPr/>
        </p:nvSpPr>
        <p:spPr>
          <a:xfrm>
            <a:off x="731520" y="1737360"/>
            <a:ext cx="10698480" cy="1097280"/>
          </a:xfrm>
          <a:prstGeom prst="rect">
            <a:avLst/>
          </a:prstGeom>
          <a:noFill/>
        </p:spPr>
        <p:txBody>
          <a:bodyPr wrap="square">
            <a:spAutoFit/>
          </a:bodyPr>
          <a:lstStyle/>
          <a:p>
            <a:pPr>
              <a:defRPr sz="3200" b="1">
                <a:solidFill>
                  <a:srgbClr val="F1F5F9"/>
                </a:solidFill>
              </a:defRPr>
            </a:pPr>
            <a:r>
              <a:t>HOÀN THÀNH TOÀN DIỆN MỤC TIÊU TUẦN 6</a:t>
            </a:r>
          </a:p>
        </p:txBody>
      </p:sp>
      <p:sp>
        <p:nvSpPr>
          <p:cNvPr id="6" name="Rounded Rectangle 5"/>
          <p:cNvSpPr/>
          <p:nvPr/>
        </p:nvSpPr>
        <p:spPr>
          <a:xfrm>
            <a:off x="731520" y="2926080"/>
            <a:ext cx="10728655" cy="320040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10149840" cy="2834640"/>
          </a:xfrm>
          <a:prstGeom prst="rect">
            <a:avLst/>
          </a:prstGeom>
          <a:noFill/>
        </p:spPr>
        <p:txBody>
          <a:bodyPr wrap="square">
            <a:spAutoFit/>
          </a:bodyPr>
          <a:lstStyle/>
          <a:p>
            <a:pPr>
              <a:defRPr sz="1400" b="1">
                <a:solidFill>
                  <a:srgbClr val="028090"/>
                </a:solidFill>
              </a:defRPr>
            </a:pPr>
            <a:r>
              <a:t>TỔNG KẾT KẾT QUẢ ĐẠT ĐƯỢC</a:t>
            </a:r>
          </a:p>
          <a:p>
            <a:pPr>
              <a:defRPr sz="1150">
                <a:solidFill>
                  <a:srgbClr val="F1F5F9"/>
                </a:solidFill>
              </a:defRPr>
            </a:pPr>
            <a:r>
              <a:t>• 1. Nghiên cứu lý thuyết vững chắc: Nắm rõ bản chất, chu kỳ polling và sự khác biệt giữa 5.1 Explicit Waits, 5.2 Implicit Waits, các bộ định vị 7.5 và cách quản lý 7.1 Exceptions.</a:t>
            </a:r>
          </a:p>
          <a:p>
            <a:pPr>
              <a:defRPr sz="1150">
                <a:solidFill>
                  <a:srgbClr val="F1F5F9"/>
                </a:solidFill>
              </a:defRPr>
            </a:pPr>
            <a:r>
              <a:t>• 2. Kịch bản kiểm thử thực tế hoàn thiện: 6/6 Test Cases chức năng Sắp xếp sản phẩm Swag Labs chạy thành công 100%, xuất đầy đủ báo cáo HTML và hình ảnh minh chứng.</a:t>
            </a:r>
          </a:p>
          <a:p>
            <a:pPr>
              <a:defRPr sz="1150">
                <a:solidFill>
                  <a:srgbClr val="F1F5F9"/>
                </a:solidFill>
              </a:defRPr>
            </a:pPr>
            <a:r>
              <a:t>• 3. Đầy đủ hàm theo phân công: Áp dụng trọn vẹn webdriver.Remote, AppiumBy.ACCESSIBILITY_ID, WebDriverWait, EC.visibility_of_element_located, EC.element_to_be_clickable, implicitly_wait, find_elements, TimeoutException.</a:t>
            </a:r>
          </a:p>
          <a:p>
            <a:pPr>
              <a:defRPr sz="1150">
                <a:solidFill>
                  <a:srgbClr val="F1F5F9"/>
                </a:solidFill>
              </a:defRPr>
            </a:pPr>
            <a:r>
              <a:t>• 4. Tuân thủ tuyệt đối quy trình GitHub: Thiết lập bảo vệ main, quản lý theo Milestone &amp; Labels, tạo Issues, phân nhánh và rà soát Pull Request chéo.</a:t>
            </a:r>
          </a:p>
          <a:p>
            <a:pPr>
              <a:defRPr sz="1150">
                <a:solidFill>
                  <a:srgbClr val="F1F5F9"/>
                </a:solidFill>
              </a:defRPr>
            </a:pPr>
            <a:r>
              <a:t>• Xin chân thành cảm ơn Thầy/Cô và các bạn đã chú ý theo dõi! Nhóm A1 sẵn sàng giải đáp mọi câu hỏi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